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94" r:id="rId2"/>
    <p:sldId id="303" r:id="rId3"/>
    <p:sldId id="304" r:id="rId4"/>
    <p:sldId id="305" r:id="rId5"/>
    <p:sldId id="295" r:id="rId6"/>
    <p:sldId id="296" r:id="rId7"/>
    <p:sldId id="297" r:id="rId8"/>
    <p:sldId id="298" r:id="rId9"/>
    <p:sldId id="299" r:id="rId10"/>
    <p:sldId id="300" r:id="rId11"/>
    <p:sldId id="302" r:id="rId12"/>
    <p:sldId id="301" r:id="rId13"/>
    <p:sldId id="307" r:id="rId14"/>
    <p:sldId id="308" r:id="rId15"/>
    <p:sldId id="309" r:id="rId16"/>
    <p:sldId id="310" r:id="rId17"/>
    <p:sldId id="311" r:id="rId18"/>
    <p:sldId id="312" r:id="rId19"/>
    <p:sldId id="31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4326"/>
    <p:restoredTop sz="96405"/>
  </p:normalViewPr>
  <p:slideViewPr>
    <p:cSldViewPr snapToGrid="0" snapToObjects="1">
      <p:cViewPr varScale="1">
        <p:scale>
          <a:sx n="121" d="100"/>
          <a:sy n="121" d="100"/>
        </p:scale>
        <p:origin x="192" y="3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A5ECBB-B71C-BC43-8271-C53449D8EA9F}" type="datetimeFigureOut">
              <a:rPr lang="en-US" smtClean="0"/>
              <a:t>10/25/25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EF012D-48B4-A145-B00F-C255DB6D6A38}" type="slidenum">
              <a:rPr lang="en-US" smtClean="0"/>
              <a:t>‹#›</a:t>
            </a:fld>
            <a:endParaRPr lang="en-US"/>
          </a:p>
        </p:txBody>
      </p:sp>
    </p:spTree>
    <p:extLst>
      <p:ext uri="{BB962C8B-B14F-4D97-AF65-F5344CB8AC3E}">
        <p14:creationId xmlns:p14="http://schemas.microsoft.com/office/powerpoint/2010/main" val="609395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9CF314-6451-754D-AFE2-DAF956D03209}" type="slidenum">
              <a:rPr lang="en-US" smtClean="0"/>
              <a:t>1</a:t>
            </a:fld>
            <a:endParaRPr lang="en-US"/>
          </a:p>
        </p:txBody>
      </p:sp>
    </p:spTree>
    <p:extLst>
      <p:ext uri="{BB962C8B-B14F-4D97-AF65-F5344CB8AC3E}">
        <p14:creationId xmlns:p14="http://schemas.microsoft.com/office/powerpoint/2010/main" val="30413157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9CF314-6451-754D-AFE2-DAF956D03209}" type="slidenum">
              <a:rPr lang="en-US" smtClean="0"/>
              <a:t>2</a:t>
            </a:fld>
            <a:endParaRPr lang="en-US"/>
          </a:p>
        </p:txBody>
      </p:sp>
    </p:spTree>
    <p:extLst>
      <p:ext uri="{BB962C8B-B14F-4D97-AF65-F5344CB8AC3E}">
        <p14:creationId xmlns:p14="http://schemas.microsoft.com/office/powerpoint/2010/main" val="3255600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9CF314-6451-754D-AFE2-DAF956D03209}" type="slidenum">
              <a:rPr lang="en-US" smtClean="0"/>
              <a:t>3</a:t>
            </a:fld>
            <a:endParaRPr lang="en-US"/>
          </a:p>
        </p:txBody>
      </p:sp>
    </p:spTree>
    <p:extLst>
      <p:ext uri="{BB962C8B-B14F-4D97-AF65-F5344CB8AC3E}">
        <p14:creationId xmlns:p14="http://schemas.microsoft.com/office/powerpoint/2010/main" val="42149160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9CF314-6451-754D-AFE2-DAF956D03209}" type="slidenum">
              <a:rPr lang="en-US" smtClean="0"/>
              <a:t>4</a:t>
            </a:fld>
            <a:endParaRPr lang="en-US"/>
          </a:p>
        </p:txBody>
      </p:sp>
    </p:spTree>
    <p:extLst>
      <p:ext uri="{BB962C8B-B14F-4D97-AF65-F5344CB8AC3E}">
        <p14:creationId xmlns:p14="http://schemas.microsoft.com/office/powerpoint/2010/main" val="623565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9CF314-6451-754D-AFE2-DAF956D03209}" type="slidenum">
              <a:rPr lang="en-US" smtClean="0"/>
              <a:t>5</a:t>
            </a:fld>
            <a:endParaRPr lang="en-US"/>
          </a:p>
        </p:txBody>
      </p:sp>
    </p:spTree>
    <p:extLst>
      <p:ext uri="{BB962C8B-B14F-4D97-AF65-F5344CB8AC3E}">
        <p14:creationId xmlns:p14="http://schemas.microsoft.com/office/powerpoint/2010/main" val="35044685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9CF314-6451-754D-AFE2-DAF956D03209}" type="slidenum">
              <a:rPr lang="en-US" smtClean="0"/>
              <a:t>6</a:t>
            </a:fld>
            <a:endParaRPr lang="en-US"/>
          </a:p>
        </p:txBody>
      </p:sp>
    </p:spTree>
    <p:extLst>
      <p:ext uri="{BB962C8B-B14F-4D97-AF65-F5344CB8AC3E}">
        <p14:creationId xmlns:p14="http://schemas.microsoft.com/office/powerpoint/2010/main" val="20294193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9CF314-6451-754D-AFE2-DAF956D03209}" type="slidenum">
              <a:rPr lang="en-US" smtClean="0"/>
              <a:t>7</a:t>
            </a:fld>
            <a:endParaRPr lang="en-US"/>
          </a:p>
        </p:txBody>
      </p:sp>
    </p:spTree>
    <p:extLst>
      <p:ext uri="{BB962C8B-B14F-4D97-AF65-F5344CB8AC3E}">
        <p14:creationId xmlns:p14="http://schemas.microsoft.com/office/powerpoint/2010/main" val="30626954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9CF314-6451-754D-AFE2-DAF956D03209}" type="slidenum">
              <a:rPr lang="en-US" smtClean="0"/>
              <a:t>8</a:t>
            </a:fld>
            <a:endParaRPr lang="en-US"/>
          </a:p>
        </p:txBody>
      </p:sp>
    </p:spTree>
    <p:extLst>
      <p:ext uri="{BB962C8B-B14F-4D97-AF65-F5344CB8AC3E}">
        <p14:creationId xmlns:p14="http://schemas.microsoft.com/office/powerpoint/2010/main" val="36274149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9CF314-6451-754D-AFE2-DAF956D03209}" type="slidenum">
              <a:rPr lang="en-US" smtClean="0"/>
              <a:t>9</a:t>
            </a:fld>
            <a:endParaRPr lang="en-US"/>
          </a:p>
        </p:txBody>
      </p:sp>
    </p:spTree>
    <p:extLst>
      <p:ext uri="{BB962C8B-B14F-4D97-AF65-F5344CB8AC3E}">
        <p14:creationId xmlns:p14="http://schemas.microsoft.com/office/powerpoint/2010/main" val="5493975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9CF314-6451-754D-AFE2-DAF956D03209}" type="slidenum">
              <a:rPr lang="en-US" smtClean="0"/>
              <a:t>10</a:t>
            </a:fld>
            <a:endParaRPr lang="en-US"/>
          </a:p>
        </p:txBody>
      </p:sp>
    </p:spTree>
    <p:extLst>
      <p:ext uri="{BB962C8B-B14F-4D97-AF65-F5344CB8AC3E}">
        <p14:creationId xmlns:p14="http://schemas.microsoft.com/office/powerpoint/2010/main" val="41399380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9CF314-6451-754D-AFE2-DAF956D03209}" type="slidenum">
              <a:rPr lang="en-US" smtClean="0"/>
              <a:t>11</a:t>
            </a:fld>
            <a:endParaRPr lang="en-US"/>
          </a:p>
        </p:txBody>
      </p:sp>
    </p:spTree>
    <p:extLst>
      <p:ext uri="{BB962C8B-B14F-4D97-AF65-F5344CB8AC3E}">
        <p14:creationId xmlns:p14="http://schemas.microsoft.com/office/powerpoint/2010/main" val="4392482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9CF314-6451-754D-AFE2-DAF956D03209}" type="slidenum">
              <a:rPr lang="en-US" smtClean="0"/>
              <a:t>12</a:t>
            </a:fld>
            <a:endParaRPr lang="en-US"/>
          </a:p>
        </p:txBody>
      </p:sp>
    </p:spTree>
    <p:extLst>
      <p:ext uri="{BB962C8B-B14F-4D97-AF65-F5344CB8AC3E}">
        <p14:creationId xmlns:p14="http://schemas.microsoft.com/office/powerpoint/2010/main" val="21618004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9CF314-6451-754D-AFE2-DAF956D03209}" type="slidenum">
              <a:rPr lang="en-US" smtClean="0"/>
              <a:t>13</a:t>
            </a:fld>
            <a:endParaRPr lang="en-US"/>
          </a:p>
        </p:txBody>
      </p:sp>
    </p:spTree>
    <p:extLst>
      <p:ext uri="{BB962C8B-B14F-4D97-AF65-F5344CB8AC3E}">
        <p14:creationId xmlns:p14="http://schemas.microsoft.com/office/powerpoint/2010/main" val="12299788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9CF314-6451-754D-AFE2-DAF956D03209}" type="slidenum">
              <a:rPr lang="en-US" smtClean="0"/>
              <a:t>14</a:t>
            </a:fld>
            <a:endParaRPr lang="en-US"/>
          </a:p>
        </p:txBody>
      </p:sp>
    </p:spTree>
    <p:extLst>
      <p:ext uri="{BB962C8B-B14F-4D97-AF65-F5344CB8AC3E}">
        <p14:creationId xmlns:p14="http://schemas.microsoft.com/office/powerpoint/2010/main" val="27016375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9CF314-6451-754D-AFE2-DAF956D03209}" type="slidenum">
              <a:rPr lang="en-US" smtClean="0"/>
              <a:t>15</a:t>
            </a:fld>
            <a:endParaRPr lang="en-US"/>
          </a:p>
        </p:txBody>
      </p:sp>
    </p:spTree>
    <p:extLst>
      <p:ext uri="{BB962C8B-B14F-4D97-AF65-F5344CB8AC3E}">
        <p14:creationId xmlns:p14="http://schemas.microsoft.com/office/powerpoint/2010/main" val="24597029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9CF314-6451-754D-AFE2-DAF956D03209}" type="slidenum">
              <a:rPr lang="en-US" smtClean="0"/>
              <a:t>16</a:t>
            </a:fld>
            <a:endParaRPr lang="en-US"/>
          </a:p>
        </p:txBody>
      </p:sp>
    </p:spTree>
    <p:extLst>
      <p:ext uri="{BB962C8B-B14F-4D97-AF65-F5344CB8AC3E}">
        <p14:creationId xmlns:p14="http://schemas.microsoft.com/office/powerpoint/2010/main" val="263189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9CF314-6451-754D-AFE2-DAF956D03209}" type="slidenum">
              <a:rPr lang="en-US" smtClean="0"/>
              <a:t>17</a:t>
            </a:fld>
            <a:endParaRPr lang="en-US"/>
          </a:p>
        </p:txBody>
      </p:sp>
    </p:spTree>
    <p:extLst>
      <p:ext uri="{BB962C8B-B14F-4D97-AF65-F5344CB8AC3E}">
        <p14:creationId xmlns:p14="http://schemas.microsoft.com/office/powerpoint/2010/main" val="32376195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9CF314-6451-754D-AFE2-DAF956D03209}" type="slidenum">
              <a:rPr lang="en-US" smtClean="0"/>
              <a:t>18</a:t>
            </a:fld>
            <a:endParaRPr lang="en-US"/>
          </a:p>
        </p:txBody>
      </p:sp>
    </p:spTree>
    <p:extLst>
      <p:ext uri="{BB962C8B-B14F-4D97-AF65-F5344CB8AC3E}">
        <p14:creationId xmlns:p14="http://schemas.microsoft.com/office/powerpoint/2010/main" val="31095661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9CF314-6451-754D-AFE2-DAF956D03209}" type="slidenum">
              <a:rPr lang="en-US" smtClean="0"/>
              <a:t>19</a:t>
            </a:fld>
            <a:endParaRPr lang="en-US"/>
          </a:p>
        </p:txBody>
      </p:sp>
    </p:spTree>
    <p:extLst>
      <p:ext uri="{BB962C8B-B14F-4D97-AF65-F5344CB8AC3E}">
        <p14:creationId xmlns:p14="http://schemas.microsoft.com/office/powerpoint/2010/main" val="14863479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AC25D-F922-B746-9A70-DBEF767A6E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49A9F0E-6B26-C54B-BC8E-BE722E359E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5F29E97-2D20-B14F-8AF8-EA44C06608AA}"/>
              </a:ext>
            </a:extLst>
          </p:cNvPr>
          <p:cNvSpPr>
            <a:spLocks noGrp="1"/>
          </p:cNvSpPr>
          <p:nvPr>
            <p:ph type="dt" sz="half" idx="10"/>
          </p:nvPr>
        </p:nvSpPr>
        <p:spPr/>
        <p:txBody>
          <a:bodyPr/>
          <a:lstStyle/>
          <a:p>
            <a:fld id="{01FABE52-74C0-4449-A82E-4AEF794E8C4D}" type="datetimeFigureOut">
              <a:rPr lang="en-US" smtClean="0"/>
              <a:t>10/25/25</a:t>
            </a:fld>
            <a:endParaRPr lang="en-US"/>
          </a:p>
        </p:txBody>
      </p:sp>
      <p:sp>
        <p:nvSpPr>
          <p:cNvPr id="5" name="Footer Placeholder 4">
            <a:extLst>
              <a:ext uri="{FF2B5EF4-FFF2-40B4-BE49-F238E27FC236}">
                <a16:creationId xmlns:a16="http://schemas.microsoft.com/office/drawing/2014/main" id="{01DE68A4-436C-6B49-89C3-F106487DA8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F01D27-D0DE-6143-AFDF-0F6F1FA15C38}"/>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9171066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15CE1-7A58-FE4D-8891-84828C80F7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561BFB-D804-624C-811A-C8DC29D9CBE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731F82-D3BC-A748-A249-319E1E27EA67}"/>
              </a:ext>
            </a:extLst>
          </p:cNvPr>
          <p:cNvSpPr>
            <a:spLocks noGrp="1"/>
          </p:cNvSpPr>
          <p:nvPr>
            <p:ph type="dt" sz="half" idx="10"/>
          </p:nvPr>
        </p:nvSpPr>
        <p:spPr/>
        <p:txBody>
          <a:bodyPr/>
          <a:lstStyle/>
          <a:p>
            <a:fld id="{01FABE52-74C0-4449-A82E-4AEF794E8C4D}" type="datetimeFigureOut">
              <a:rPr lang="en-US" smtClean="0"/>
              <a:t>10/25/25</a:t>
            </a:fld>
            <a:endParaRPr lang="en-US"/>
          </a:p>
        </p:txBody>
      </p:sp>
      <p:sp>
        <p:nvSpPr>
          <p:cNvPr id="5" name="Footer Placeholder 4">
            <a:extLst>
              <a:ext uri="{FF2B5EF4-FFF2-40B4-BE49-F238E27FC236}">
                <a16:creationId xmlns:a16="http://schemas.microsoft.com/office/drawing/2014/main" id="{25A04461-7F4C-B246-B27F-BBB531C664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17B88C-360C-5B41-8F98-5B289EC19755}"/>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30034494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CA93A-3DF0-C04E-9E7D-559E971431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BBE38E0-6B08-0445-92A0-D0CBAE6AE67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7A717C8-882E-8F48-9492-325A3874BB13}"/>
              </a:ext>
            </a:extLst>
          </p:cNvPr>
          <p:cNvSpPr>
            <a:spLocks noGrp="1"/>
          </p:cNvSpPr>
          <p:nvPr>
            <p:ph type="dt" sz="half" idx="10"/>
          </p:nvPr>
        </p:nvSpPr>
        <p:spPr/>
        <p:txBody>
          <a:bodyPr/>
          <a:lstStyle/>
          <a:p>
            <a:fld id="{01FABE52-74C0-4449-A82E-4AEF794E8C4D}" type="datetimeFigureOut">
              <a:rPr lang="en-US" smtClean="0"/>
              <a:t>10/25/25</a:t>
            </a:fld>
            <a:endParaRPr lang="en-US"/>
          </a:p>
        </p:txBody>
      </p:sp>
      <p:sp>
        <p:nvSpPr>
          <p:cNvPr id="5" name="Footer Placeholder 4">
            <a:extLst>
              <a:ext uri="{FF2B5EF4-FFF2-40B4-BE49-F238E27FC236}">
                <a16:creationId xmlns:a16="http://schemas.microsoft.com/office/drawing/2014/main" id="{E2CD0014-D531-154C-A897-E179ADC610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488E9D-1100-5F49-B977-EACA818B002E}"/>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41047964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DCF20-13F4-C148-A70D-23E4FC2105E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ADAFA08-B828-C74E-A990-38983A22F5E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C8DBD4F-6203-E648-87B4-D673D6E4D0B8}"/>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858B72B-507A-5A4E-B4D0-D98ED90F5AA1}"/>
              </a:ext>
            </a:extLst>
          </p:cNvPr>
          <p:cNvSpPr>
            <a:spLocks noGrp="1"/>
          </p:cNvSpPr>
          <p:nvPr>
            <p:ph type="dt" sz="half" idx="10"/>
          </p:nvPr>
        </p:nvSpPr>
        <p:spPr/>
        <p:txBody>
          <a:bodyPr/>
          <a:lstStyle/>
          <a:p>
            <a:fld id="{01FABE52-74C0-4449-A82E-4AEF794E8C4D}" type="datetimeFigureOut">
              <a:rPr lang="en-US" smtClean="0"/>
              <a:t>10/25/25</a:t>
            </a:fld>
            <a:endParaRPr lang="en-US"/>
          </a:p>
        </p:txBody>
      </p:sp>
      <p:sp>
        <p:nvSpPr>
          <p:cNvPr id="6" name="Footer Placeholder 5">
            <a:extLst>
              <a:ext uri="{FF2B5EF4-FFF2-40B4-BE49-F238E27FC236}">
                <a16:creationId xmlns:a16="http://schemas.microsoft.com/office/drawing/2014/main" id="{47A675CC-9E7E-4E42-8511-94F50FB428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395513-DBCF-0D49-A283-CF3CB8BCBF96}"/>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31605292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3DE97-69CE-2545-B2B4-DB80B8E0E27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D9329B-548C-3340-ADF1-E0BE1A0A81C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B8BA96D-6B97-8B47-A39F-E4C24480E6B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BE0CB88-257B-CD4C-92FA-48937E0F24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207B3324-CF0A-4145-960F-C8E58BAB2EC8}"/>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DE9CC07-1626-AB4C-B093-120035061866}"/>
              </a:ext>
            </a:extLst>
          </p:cNvPr>
          <p:cNvSpPr>
            <a:spLocks noGrp="1"/>
          </p:cNvSpPr>
          <p:nvPr>
            <p:ph type="dt" sz="half" idx="10"/>
          </p:nvPr>
        </p:nvSpPr>
        <p:spPr/>
        <p:txBody>
          <a:bodyPr/>
          <a:lstStyle/>
          <a:p>
            <a:fld id="{01FABE52-74C0-4449-A82E-4AEF794E8C4D}" type="datetimeFigureOut">
              <a:rPr lang="en-US" smtClean="0"/>
              <a:t>10/25/25</a:t>
            </a:fld>
            <a:endParaRPr lang="en-US"/>
          </a:p>
        </p:txBody>
      </p:sp>
      <p:sp>
        <p:nvSpPr>
          <p:cNvPr id="8" name="Footer Placeholder 7">
            <a:extLst>
              <a:ext uri="{FF2B5EF4-FFF2-40B4-BE49-F238E27FC236}">
                <a16:creationId xmlns:a16="http://schemas.microsoft.com/office/drawing/2014/main" id="{F3FD3B8F-5340-D44A-992B-D3A6DDCC522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8D3F4F7-033F-6F46-8CD8-64C7EFEC81CD}"/>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29575786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E7B13-AE27-2D48-B861-E5058C25B5C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2DE5DEF-2FC9-6349-9E8F-E658ED88C6BA}"/>
              </a:ext>
            </a:extLst>
          </p:cNvPr>
          <p:cNvSpPr>
            <a:spLocks noGrp="1"/>
          </p:cNvSpPr>
          <p:nvPr>
            <p:ph type="dt" sz="half" idx="10"/>
          </p:nvPr>
        </p:nvSpPr>
        <p:spPr/>
        <p:txBody>
          <a:bodyPr/>
          <a:lstStyle/>
          <a:p>
            <a:fld id="{01FABE52-74C0-4449-A82E-4AEF794E8C4D}" type="datetimeFigureOut">
              <a:rPr lang="en-US" smtClean="0"/>
              <a:t>10/25/25</a:t>
            </a:fld>
            <a:endParaRPr lang="en-US"/>
          </a:p>
        </p:txBody>
      </p:sp>
      <p:sp>
        <p:nvSpPr>
          <p:cNvPr id="4" name="Footer Placeholder 3">
            <a:extLst>
              <a:ext uri="{FF2B5EF4-FFF2-40B4-BE49-F238E27FC236}">
                <a16:creationId xmlns:a16="http://schemas.microsoft.com/office/drawing/2014/main" id="{8EAC2F9B-967A-7F40-ABD9-8DD06401689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5BFEBB8-029C-AA4D-9D60-3FE74AB8D240}"/>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21672962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AA307E-E65E-F94F-A421-6665454CCC80}"/>
              </a:ext>
            </a:extLst>
          </p:cNvPr>
          <p:cNvSpPr>
            <a:spLocks noGrp="1"/>
          </p:cNvSpPr>
          <p:nvPr>
            <p:ph type="dt" sz="half" idx="10"/>
          </p:nvPr>
        </p:nvSpPr>
        <p:spPr/>
        <p:txBody>
          <a:bodyPr/>
          <a:lstStyle/>
          <a:p>
            <a:fld id="{01FABE52-74C0-4449-A82E-4AEF794E8C4D}" type="datetimeFigureOut">
              <a:rPr lang="en-US" smtClean="0"/>
              <a:t>10/25/25</a:t>
            </a:fld>
            <a:endParaRPr lang="en-US"/>
          </a:p>
        </p:txBody>
      </p:sp>
      <p:sp>
        <p:nvSpPr>
          <p:cNvPr id="3" name="Footer Placeholder 2">
            <a:extLst>
              <a:ext uri="{FF2B5EF4-FFF2-40B4-BE49-F238E27FC236}">
                <a16:creationId xmlns:a16="http://schemas.microsoft.com/office/drawing/2014/main" id="{978CDDDE-D1F5-3445-9E02-EF225AF2CA6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5FDDC12-6510-6744-AB1F-FF301C99B4F1}"/>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21555361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618E0-5F75-094F-AF8D-83675CD5DC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81ACEEF-84D8-1C4E-8109-011D32D363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9FDE188-A5DF-A045-9DA4-8C32FDC7EA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76CF674-B7F1-884A-BD43-0DDFE68C4573}"/>
              </a:ext>
            </a:extLst>
          </p:cNvPr>
          <p:cNvSpPr>
            <a:spLocks noGrp="1"/>
          </p:cNvSpPr>
          <p:nvPr>
            <p:ph type="dt" sz="half" idx="10"/>
          </p:nvPr>
        </p:nvSpPr>
        <p:spPr/>
        <p:txBody>
          <a:bodyPr/>
          <a:lstStyle/>
          <a:p>
            <a:fld id="{01FABE52-74C0-4449-A82E-4AEF794E8C4D}" type="datetimeFigureOut">
              <a:rPr lang="en-US" smtClean="0"/>
              <a:t>10/25/25</a:t>
            </a:fld>
            <a:endParaRPr lang="en-US"/>
          </a:p>
        </p:txBody>
      </p:sp>
      <p:sp>
        <p:nvSpPr>
          <p:cNvPr id="6" name="Footer Placeholder 5">
            <a:extLst>
              <a:ext uri="{FF2B5EF4-FFF2-40B4-BE49-F238E27FC236}">
                <a16:creationId xmlns:a16="http://schemas.microsoft.com/office/drawing/2014/main" id="{2A79DB32-51AB-5841-A50A-90B3EF147D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625F05-C4B2-4845-8455-EE102D2D1840}"/>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22083609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1039C-487E-634C-B3C9-1FB0B09CFE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1284271-D343-6746-BA5C-DD13D538B7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AA8663B-2732-AF4D-926E-2392B731D9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141064F-BB2C-5A4B-B14F-86F8B4DB6943}"/>
              </a:ext>
            </a:extLst>
          </p:cNvPr>
          <p:cNvSpPr>
            <a:spLocks noGrp="1"/>
          </p:cNvSpPr>
          <p:nvPr>
            <p:ph type="dt" sz="half" idx="10"/>
          </p:nvPr>
        </p:nvSpPr>
        <p:spPr/>
        <p:txBody>
          <a:bodyPr/>
          <a:lstStyle/>
          <a:p>
            <a:fld id="{01FABE52-74C0-4449-A82E-4AEF794E8C4D}" type="datetimeFigureOut">
              <a:rPr lang="en-US" smtClean="0"/>
              <a:t>10/25/25</a:t>
            </a:fld>
            <a:endParaRPr lang="en-US"/>
          </a:p>
        </p:txBody>
      </p:sp>
      <p:sp>
        <p:nvSpPr>
          <p:cNvPr id="6" name="Footer Placeholder 5">
            <a:extLst>
              <a:ext uri="{FF2B5EF4-FFF2-40B4-BE49-F238E27FC236}">
                <a16:creationId xmlns:a16="http://schemas.microsoft.com/office/drawing/2014/main" id="{629D46D5-BC1C-EF48-9BBE-0B18B33093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4B75F1-EC0A-A94D-A279-311A77A8A921}"/>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6041406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5A963-A2B8-6A4F-B8A1-B917AAD1711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EF11B0-E08B-1945-8643-AE2DC7A8426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C2C47E-63C5-8343-8DD2-FC4C99E7B69D}"/>
              </a:ext>
            </a:extLst>
          </p:cNvPr>
          <p:cNvSpPr>
            <a:spLocks noGrp="1"/>
          </p:cNvSpPr>
          <p:nvPr>
            <p:ph type="dt" sz="half" idx="10"/>
          </p:nvPr>
        </p:nvSpPr>
        <p:spPr/>
        <p:txBody>
          <a:bodyPr/>
          <a:lstStyle/>
          <a:p>
            <a:fld id="{01FABE52-74C0-4449-A82E-4AEF794E8C4D}" type="datetimeFigureOut">
              <a:rPr lang="en-US" smtClean="0"/>
              <a:t>10/25/25</a:t>
            </a:fld>
            <a:endParaRPr lang="en-US"/>
          </a:p>
        </p:txBody>
      </p:sp>
      <p:sp>
        <p:nvSpPr>
          <p:cNvPr id="5" name="Footer Placeholder 4">
            <a:extLst>
              <a:ext uri="{FF2B5EF4-FFF2-40B4-BE49-F238E27FC236}">
                <a16:creationId xmlns:a16="http://schemas.microsoft.com/office/drawing/2014/main" id="{7F3B18C6-45B0-4F40-882E-41C0DAD077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2B5436-A954-B14B-9DAD-0952CF4612D9}"/>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38954084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77063F4-710B-404B-A173-82A1DC0D2D0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9B04CB7-1D9E-DA43-8FC7-5FACA39CFCC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0DF71A-FF66-FB4A-B299-821D748C76C7}"/>
              </a:ext>
            </a:extLst>
          </p:cNvPr>
          <p:cNvSpPr>
            <a:spLocks noGrp="1"/>
          </p:cNvSpPr>
          <p:nvPr>
            <p:ph type="dt" sz="half" idx="10"/>
          </p:nvPr>
        </p:nvSpPr>
        <p:spPr/>
        <p:txBody>
          <a:bodyPr/>
          <a:lstStyle/>
          <a:p>
            <a:fld id="{01FABE52-74C0-4449-A82E-4AEF794E8C4D}" type="datetimeFigureOut">
              <a:rPr lang="en-US" smtClean="0"/>
              <a:t>10/25/25</a:t>
            </a:fld>
            <a:endParaRPr lang="en-US"/>
          </a:p>
        </p:txBody>
      </p:sp>
      <p:sp>
        <p:nvSpPr>
          <p:cNvPr id="5" name="Footer Placeholder 4">
            <a:extLst>
              <a:ext uri="{FF2B5EF4-FFF2-40B4-BE49-F238E27FC236}">
                <a16:creationId xmlns:a16="http://schemas.microsoft.com/office/drawing/2014/main" id="{B33D2F75-65A5-F643-9E5D-56A13B3474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300F60-A372-824A-9A29-33446CFCFA2C}"/>
              </a:ext>
            </a:extLst>
          </p:cNvPr>
          <p:cNvSpPr>
            <a:spLocks noGrp="1"/>
          </p:cNvSpPr>
          <p:nvPr>
            <p:ph type="sldNum" sz="quarter" idx="12"/>
          </p:nvPr>
        </p:nvSpPr>
        <p:spPr/>
        <p:txBody>
          <a:bodyPr/>
          <a:lstStyle/>
          <a:p>
            <a:fld id="{0B84ABFF-D714-5E4C-8409-CF24B028649F}" type="slidenum">
              <a:rPr lang="en-US" smtClean="0"/>
              <a:t>‹#›</a:t>
            </a:fld>
            <a:endParaRPr lang="en-US"/>
          </a:p>
        </p:txBody>
      </p:sp>
    </p:spTree>
    <p:extLst>
      <p:ext uri="{BB962C8B-B14F-4D97-AF65-F5344CB8AC3E}">
        <p14:creationId xmlns:p14="http://schemas.microsoft.com/office/powerpoint/2010/main" val="28710816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A49120-51F5-3641-B5DF-4B59CCE54F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5D347A-047F-2546-8802-2D1E5E29F7C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8F7234-20C3-9D42-94C2-7EE9FBE8FB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FABE52-74C0-4449-A82E-4AEF794E8C4D}" type="datetimeFigureOut">
              <a:rPr lang="en-US" smtClean="0"/>
              <a:t>10/25/25</a:t>
            </a:fld>
            <a:endParaRPr lang="en-US"/>
          </a:p>
        </p:txBody>
      </p:sp>
      <p:sp>
        <p:nvSpPr>
          <p:cNvPr id="5" name="Footer Placeholder 4">
            <a:extLst>
              <a:ext uri="{FF2B5EF4-FFF2-40B4-BE49-F238E27FC236}">
                <a16:creationId xmlns:a16="http://schemas.microsoft.com/office/drawing/2014/main" id="{741B583E-1770-5A4E-830D-D11CFA81C8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0C1A04A-FB1B-EA43-9566-3C09BB1E34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84ABFF-D714-5E4C-8409-CF24B028649F}" type="slidenum">
              <a:rPr lang="en-US" smtClean="0"/>
              <a:t>‹#›</a:t>
            </a:fld>
            <a:endParaRPr lang="en-US"/>
          </a:p>
        </p:txBody>
      </p:sp>
    </p:spTree>
    <p:extLst>
      <p:ext uri="{BB962C8B-B14F-4D97-AF65-F5344CB8AC3E}">
        <p14:creationId xmlns:p14="http://schemas.microsoft.com/office/powerpoint/2010/main" val="39605162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4BDEA-2B9D-B840-809F-2653FC5DF999}"/>
              </a:ext>
            </a:extLst>
          </p:cNvPr>
          <p:cNvSpPr>
            <a:spLocks noGrp="1"/>
          </p:cNvSpPr>
          <p:nvPr>
            <p:ph type="title"/>
          </p:nvPr>
        </p:nvSpPr>
        <p:spPr>
          <a:xfrm>
            <a:off x="0" y="678094"/>
            <a:ext cx="12192000" cy="934949"/>
          </a:xfrm>
          <a:solidFill>
            <a:schemeClr val="accent2">
              <a:lumMod val="20000"/>
              <a:lumOff val="80000"/>
            </a:schemeClr>
          </a:solidFill>
        </p:spPr>
        <p:txBody>
          <a:bodyPr/>
          <a:lstStyle/>
          <a:p>
            <a:r>
              <a:rPr lang="en-US" b="1" dirty="0"/>
              <a:t>Problem 1 (25 pts)</a:t>
            </a:r>
          </a:p>
        </p:txBody>
      </p:sp>
      <p:sp>
        <p:nvSpPr>
          <p:cNvPr id="5" name="Rectangle 4">
            <a:extLst>
              <a:ext uri="{FF2B5EF4-FFF2-40B4-BE49-F238E27FC236}">
                <a16:creationId xmlns:a16="http://schemas.microsoft.com/office/drawing/2014/main" id="{958934F1-EFDA-3042-B8D1-1627EF63AA28}"/>
              </a:ext>
            </a:extLst>
          </p:cNvPr>
          <p:cNvSpPr/>
          <p:nvPr/>
        </p:nvSpPr>
        <p:spPr>
          <a:xfrm>
            <a:off x="0" y="0"/>
            <a:ext cx="12192000" cy="678094"/>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CS526  Mid-Term</a:t>
            </a:r>
          </a:p>
        </p:txBody>
      </p:sp>
      <p:sp>
        <p:nvSpPr>
          <p:cNvPr id="6" name="Footer Placeholder 5">
            <a:extLst>
              <a:ext uri="{FF2B5EF4-FFF2-40B4-BE49-F238E27FC236}">
                <a16:creationId xmlns:a16="http://schemas.microsoft.com/office/drawing/2014/main" id="{5B12AFAF-307E-C046-A210-B750151EF6F1}"/>
              </a:ext>
            </a:extLst>
          </p:cNvPr>
          <p:cNvSpPr>
            <a:spLocks noGrp="1"/>
          </p:cNvSpPr>
          <p:nvPr>
            <p:ph type="ftr" sz="quarter" idx="11"/>
          </p:nvPr>
        </p:nvSpPr>
        <p:spPr/>
        <p:txBody>
          <a:bodyPr/>
          <a:lstStyle/>
          <a:p>
            <a:r>
              <a:rPr lang="en-US"/>
              <a:t>Boston University Metropolitan College</a:t>
            </a:r>
          </a:p>
        </p:txBody>
      </p:sp>
      <p:sp>
        <p:nvSpPr>
          <p:cNvPr id="7" name="Slide Number Placeholder 6">
            <a:extLst>
              <a:ext uri="{FF2B5EF4-FFF2-40B4-BE49-F238E27FC236}">
                <a16:creationId xmlns:a16="http://schemas.microsoft.com/office/drawing/2014/main" id="{37980371-C631-6347-9CDD-6C6B37EC7D7D}"/>
              </a:ext>
            </a:extLst>
          </p:cNvPr>
          <p:cNvSpPr>
            <a:spLocks noGrp="1"/>
          </p:cNvSpPr>
          <p:nvPr>
            <p:ph type="sldNum" sz="quarter" idx="12"/>
          </p:nvPr>
        </p:nvSpPr>
        <p:spPr/>
        <p:txBody>
          <a:bodyPr/>
          <a:lstStyle/>
          <a:p>
            <a:fld id="{F0E4876E-C529-7042-8A86-14EE2C2A0384}" type="slidenum">
              <a:rPr lang="en-US" smtClean="0"/>
              <a:t>1</a:t>
            </a:fld>
            <a:endParaRPr lang="en-US"/>
          </a:p>
        </p:txBody>
      </p:sp>
      <p:sp>
        <p:nvSpPr>
          <p:cNvPr id="20" name="Content Placeholder 2">
            <a:extLst>
              <a:ext uri="{FF2B5EF4-FFF2-40B4-BE49-F238E27FC236}">
                <a16:creationId xmlns:a16="http://schemas.microsoft.com/office/drawing/2014/main" id="{DE583E3C-EE0D-E648-90CF-E0827356DCE9}"/>
              </a:ext>
            </a:extLst>
          </p:cNvPr>
          <p:cNvSpPr>
            <a:spLocks noGrp="1"/>
          </p:cNvSpPr>
          <p:nvPr>
            <p:ph sz="half" idx="1"/>
          </p:nvPr>
        </p:nvSpPr>
        <p:spPr>
          <a:xfrm>
            <a:off x="0" y="1411364"/>
            <a:ext cx="12192000" cy="4743308"/>
          </a:xfrm>
          <a:solidFill>
            <a:schemeClr val="accent2">
              <a:lumMod val="20000"/>
              <a:lumOff val="80000"/>
            </a:schemeClr>
          </a:solidFill>
        </p:spPr>
        <p:txBody>
          <a:bodyPr>
            <a:normAutofit/>
          </a:bodyPr>
          <a:lstStyle/>
          <a:p>
            <a:pPr lvl="0"/>
            <a:r>
              <a:rPr lang="en-US" dirty="0"/>
              <a:t>Snowfall</a:t>
            </a:r>
            <a:endParaRPr lang="en-US" sz="1400" dirty="0"/>
          </a:p>
          <a:p>
            <a:pPr marL="457200" lvl="1" indent="0">
              <a:buNone/>
            </a:pPr>
            <a:r>
              <a:rPr lang="en-US" sz="1400" dirty="0"/>
              <a:t>You are given an array A[1…n] which contains the cumulative snowfall totals for n consecutive days. For example, if there are 6 inches on snow on day 1, 7 inches of snow on day 2, 0 inches of snow on day 4 and 4 inches of snow on day 4 the array would contain the values [6,13,13,17].</a:t>
            </a:r>
          </a:p>
          <a:p>
            <a:pPr marL="457200" lvl="1" indent="0">
              <a:buNone/>
            </a:pPr>
            <a:endParaRPr lang="en-US" sz="1400" dirty="0"/>
          </a:p>
          <a:p>
            <a:pPr marL="457200" lvl="1" indent="0">
              <a:buNone/>
            </a:pPr>
            <a:r>
              <a:rPr lang="en-US" sz="1400" dirty="0"/>
              <a:t>You should read an input file from standard in which will contain 2 lines, the first line will be the number of days and the second line will be the a comma separated set of cumulative snowfall totals</a:t>
            </a:r>
          </a:p>
          <a:p>
            <a:pPr marL="457200" lvl="1" indent="0">
              <a:buNone/>
            </a:pPr>
            <a:endParaRPr lang="en-US" sz="1400" dirty="0"/>
          </a:p>
          <a:p>
            <a:pPr marL="457200" lvl="1" indent="0">
              <a:buNone/>
            </a:pPr>
            <a:r>
              <a:rPr lang="en-US" sz="1400" dirty="0"/>
              <a:t>Design and implement an algorithm that determines if there exists three consecutive days that produced more than half of the total snowfall across the n days.</a:t>
            </a:r>
          </a:p>
          <a:p>
            <a:pPr marL="457200" lvl="1" indent="0">
              <a:buNone/>
            </a:pPr>
            <a:endParaRPr lang="en-US" sz="1400" dirty="0"/>
          </a:p>
          <a:p>
            <a:pPr marL="457200" lvl="1" indent="0">
              <a:buNone/>
            </a:pPr>
            <a:r>
              <a:rPr lang="en-US" sz="1400" dirty="0"/>
              <a:t>Your solution should return either YES or NO.</a:t>
            </a:r>
          </a:p>
          <a:p>
            <a:pPr marL="457200" lvl="1" indent="0">
              <a:buNone/>
            </a:pPr>
            <a:endParaRPr lang="en-US" sz="1400" dirty="0"/>
          </a:p>
          <a:p>
            <a:pPr marL="457200" lvl="1" indent="0">
              <a:buNone/>
            </a:pPr>
            <a:endParaRPr lang="en-US" sz="1400" dirty="0"/>
          </a:p>
          <a:p>
            <a:pPr marL="457200" lvl="1" indent="0">
              <a:buNone/>
            </a:pPr>
            <a:endParaRPr lang="en-US" dirty="0"/>
          </a:p>
        </p:txBody>
      </p:sp>
    </p:spTree>
    <p:extLst>
      <p:ext uri="{BB962C8B-B14F-4D97-AF65-F5344CB8AC3E}">
        <p14:creationId xmlns:p14="http://schemas.microsoft.com/office/powerpoint/2010/main" val="7908186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4BDEA-2B9D-B840-809F-2653FC5DF999}"/>
              </a:ext>
            </a:extLst>
          </p:cNvPr>
          <p:cNvSpPr>
            <a:spLocks noGrp="1"/>
          </p:cNvSpPr>
          <p:nvPr>
            <p:ph type="title"/>
          </p:nvPr>
        </p:nvSpPr>
        <p:spPr>
          <a:xfrm>
            <a:off x="0" y="678094"/>
            <a:ext cx="12192000" cy="934949"/>
          </a:xfrm>
          <a:solidFill>
            <a:schemeClr val="accent2">
              <a:lumMod val="20000"/>
              <a:lumOff val="80000"/>
            </a:schemeClr>
          </a:solidFill>
        </p:spPr>
        <p:txBody>
          <a:bodyPr/>
          <a:lstStyle/>
          <a:p>
            <a:r>
              <a:rPr lang="en-US" b="1" dirty="0"/>
              <a:t>Problem 1 </a:t>
            </a:r>
            <a:r>
              <a:rPr lang="en-US" b="1" dirty="0" err="1"/>
              <a:t>con’t</a:t>
            </a:r>
            <a:r>
              <a:rPr lang="en-US" b="1" dirty="0"/>
              <a:t> (25 pts)</a:t>
            </a:r>
          </a:p>
        </p:txBody>
      </p:sp>
      <p:sp>
        <p:nvSpPr>
          <p:cNvPr id="5" name="Rectangle 4">
            <a:extLst>
              <a:ext uri="{FF2B5EF4-FFF2-40B4-BE49-F238E27FC236}">
                <a16:creationId xmlns:a16="http://schemas.microsoft.com/office/drawing/2014/main" id="{958934F1-EFDA-3042-B8D1-1627EF63AA28}"/>
              </a:ext>
            </a:extLst>
          </p:cNvPr>
          <p:cNvSpPr/>
          <p:nvPr/>
        </p:nvSpPr>
        <p:spPr>
          <a:xfrm>
            <a:off x="0" y="0"/>
            <a:ext cx="12192000" cy="678094"/>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CS526  Mid-Term</a:t>
            </a:r>
          </a:p>
        </p:txBody>
      </p:sp>
      <p:sp>
        <p:nvSpPr>
          <p:cNvPr id="6" name="Footer Placeholder 5">
            <a:extLst>
              <a:ext uri="{FF2B5EF4-FFF2-40B4-BE49-F238E27FC236}">
                <a16:creationId xmlns:a16="http://schemas.microsoft.com/office/drawing/2014/main" id="{5B12AFAF-307E-C046-A210-B750151EF6F1}"/>
              </a:ext>
            </a:extLst>
          </p:cNvPr>
          <p:cNvSpPr>
            <a:spLocks noGrp="1"/>
          </p:cNvSpPr>
          <p:nvPr>
            <p:ph type="ftr" sz="quarter" idx="11"/>
          </p:nvPr>
        </p:nvSpPr>
        <p:spPr/>
        <p:txBody>
          <a:bodyPr/>
          <a:lstStyle/>
          <a:p>
            <a:r>
              <a:rPr lang="en-US"/>
              <a:t>Boston University Metropolitan College</a:t>
            </a:r>
          </a:p>
        </p:txBody>
      </p:sp>
      <p:sp>
        <p:nvSpPr>
          <p:cNvPr id="7" name="Slide Number Placeholder 6">
            <a:extLst>
              <a:ext uri="{FF2B5EF4-FFF2-40B4-BE49-F238E27FC236}">
                <a16:creationId xmlns:a16="http://schemas.microsoft.com/office/drawing/2014/main" id="{37980371-C631-6347-9CDD-6C6B37EC7D7D}"/>
              </a:ext>
            </a:extLst>
          </p:cNvPr>
          <p:cNvSpPr>
            <a:spLocks noGrp="1"/>
          </p:cNvSpPr>
          <p:nvPr>
            <p:ph type="sldNum" sz="quarter" idx="12"/>
          </p:nvPr>
        </p:nvSpPr>
        <p:spPr/>
        <p:txBody>
          <a:bodyPr/>
          <a:lstStyle/>
          <a:p>
            <a:fld id="{F0E4876E-C529-7042-8A86-14EE2C2A0384}" type="slidenum">
              <a:rPr lang="en-US" smtClean="0"/>
              <a:t>2</a:t>
            </a:fld>
            <a:endParaRPr lang="en-US"/>
          </a:p>
        </p:txBody>
      </p:sp>
      <p:sp>
        <p:nvSpPr>
          <p:cNvPr id="20" name="Content Placeholder 2">
            <a:extLst>
              <a:ext uri="{FF2B5EF4-FFF2-40B4-BE49-F238E27FC236}">
                <a16:creationId xmlns:a16="http://schemas.microsoft.com/office/drawing/2014/main" id="{DE583E3C-EE0D-E648-90CF-E0827356DCE9}"/>
              </a:ext>
            </a:extLst>
          </p:cNvPr>
          <p:cNvSpPr>
            <a:spLocks noGrp="1"/>
          </p:cNvSpPr>
          <p:nvPr>
            <p:ph sz="half" idx="1"/>
          </p:nvPr>
        </p:nvSpPr>
        <p:spPr>
          <a:xfrm>
            <a:off x="0" y="1411364"/>
            <a:ext cx="12192000" cy="4743308"/>
          </a:xfrm>
          <a:solidFill>
            <a:schemeClr val="accent2">
              <a:lumMod val="20000"/>
              <a:lumOff val="80000"/>
            </a:schemeClr>
          </a:solidFill>
        </p:spPr>
        <p:txBody>
          <a:bodyPr>
            <a:normAutofit/>
          </a:bodyPr>
          <a:lstStyle/>
          <a:p>
            <a:pPr lvl="0"/>
            <a:r>
              <a:rPr lang="en-US" dirty="0"/>
              <a:t>Snowfall</a:t>
            </a:r>
            <a:endParaRPr lang="en-US" sz="1400" dirty="0"/>
          </a:p>
          <a:p>
            <a:pPr marL="457200" lvl="1" indent="0">
              <a:buNone/>
            </a:pPr>
            <a:endParaRPr lang="en-US" sz="1400" dirty="0"/>
          </a:p>
          <a:p>
            <a:pPr marL="457200" lvl="1" indent="0">
              <a:buNone/>
            </a:pPr>
            <a:r>
              <a:rPr lang="en-US" sz="1800" dirty="0"/>
              <a:t>You should demonstrate your code as run with the sample input on the following slide. You may run all of the inputs in a single execution of your code or individually. Your output should be structured as the input you are testing followed by your solution. </a:t>
            </a:r>
          </a:p>
          <a:p>
            <a:pPr marL="457200" lvl="1" indent="0">
              <a:buNone/>
            </a:pPr>
            <a:endParaRPr lang="en-US" sz="1800" dirty="0"/>
          </a:p>
          <a:p>
            <a:pPr lvl="1"/>
            <a:r>
              <a:rPr lang="en-US" sz="1800" dirty="0"/>
              <a:t>Describe the heart of your algorithm</a:t>
            </a:r>
          </a:p>
          <a:p>
            <a:pPr lvl="1"/>
            <a:r>
              <a:rPr lang="en-US" sz="1800" dirty="0"/>
              <a:t>Write a program that takes as input a file and returns to the console “&lt;</a:t>
            </a:r>
            <a:r>
              <a:rPr lang="en-US" sz="1800" b="1" dirty="0"/>
              <a:t>input&gt; solution: &lt;</a:t>
            </a:r>
            <a:r>
              <a:rPr lang="en-US" sz="1800" b="1" dirty="0" err="1"/>
              <a:t>yes|no</a:t>
            </a:r>
            <a:r>
              <a:rPr lang="en-US" sz="1800" b="1" dirty="0"/>
              <a:t>&gt;</a:t>
            </a:r>
            <a:r>
              <a:rPr lang="en-US" sz="1800" dirty="0"/>
              <a:t>”</a:t>
            </a:r>
          </a:p>
          <a:p>
            <a:pPr lvl="1"/>
            <a:r>
              <a:rPr lang="en-US" sz="1800" dirty="0"/>
              <a:t>Provide a </a:t>
            </a:r>
            <a:r>
              <a:rPr lang="en-US" sz="1800" dirty="0" err="1"/>
              <a:t>readme.txt</a:t>
            </a:r>
            <a:r>
              <a:rPr lang="en-US" sz="1800" dirty="0"/>
              <a:t> which explains how to run your code in a terminal window.</a:t>
            </a:r>
          </a:p>
          <a:p>
            <a:pPr lvl="1"/>
            <a:endParaRPr lang="en-US" sz="1800" dirty="0"/>
          </a:p>
          <a:p>
            <a:pPr marL="457200" lvl="1" indent="0">
              <a:buNone/>
            </a:pPr>
            <a:endParaRPr lang="en-US" dirty="0"/>
          </a:p>
        </p:txBody>
      </p:sp>
    </p:spTree>
    <p:extLst>
      <p:ext uri="{BB962C8B-B14F-4D97-AF65-F5344CB8AC3E}">
        <p14:creationId xmlns:p14="http://schemas.microsoft.com/office/powerpoint/2010/main" val="11806274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4BDEA-2B9D-B840-809F-2653FC5DF999}"/>
              </a:ext>
            </a:extLst>
          </p:cNvPr>
          <p:cNvSpPr>
            <a:spLocks noGrp="1"/>
          </p:cNvSpPr>
          <p:nvPr>
            <p:ph type="title"/>
          </p:nvPr>
        </p:nvSpPr>
        <p:spPr>
          <a:xfrm>
            <a:off x="0" y="678094"/>
            <a:ext cx="12192000" cy="934949"/>
          </a:xfrm>
          <a:solidFill>
            <a:schemeClr val="accent2">
              <a:lumMod val="20000"/>
              <a:lumOff val="80000"/>
            </a:schemeClr>
          </a:solidFill>
        </p:spPr>
        <p:txBody>
          <a:bodyPr/>
          <a:lstStyle/>
          <a:p>
            <a:r>
              <a:rPr lang="en-US" b="1" dirty="0"/>
              <a:t>Problem 1 </a:t>
            </a:r>
            <a:r>
              <a:rPr lang="en-US" b="1" dirty="0" err="1"/>
              <a:t>con’t</a:t>
            </a:r>
            <a:r>
              <a:rPr lang="en-US" b="1" dirty="0"/>
              <a:t> (25 pts)</a:t>
            </a:r>
          </a:p>
        </p:txBody>
      </p:sp>
      <p:sp>
        <p:nvSpPr>
          <p:cNvPr id="5" name="Rectangle 4">
            <a:extLst>
              <a:ext uri="{FF2B5EF4-FFF2-40B4-BE49-F238E27FC236}">
                <a16:creationId xmlns:a16="http://schemas.microsoft.com/office/drawing/2014/main" id="{958934F1-EFDA-3042-B8D1-1627EF63AA28}"/>
              </a:ext>
            </a:extLst>
          </p:cNvPr>
          <p:cNvSpPr/>
          <p:nvPr/>
        </p:nvSpPr>
        <p:spPr>
          <a:xfrm>
            <a:off x="0" y="0"/>
            <a:ext cx="12192000" cy="678094"/>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CS526  Mid-Term</a:t>
            </a:r>
          </a:p>
        </p:txBody>
      </p:sp>
      <p:sp>
        <p:nvSpPr>
          <p:cNvPr id="6" name="Footer Placeholder 5">
            <a:extLst>
              <a:ext uri="{FF2B5EF4-FFF2-40B4-BE49-F238E27FC236}">
                <a16:creationId xmlns:a16="http://schemas.microsoft.com/office/drawing/2014/main" id="{5B12AFAF-307E-C046-A210-B750151EF6F1}"/>
              </a:ext>
            </a:extLst>
          </p:cNvPr>
          <p:cNvSpPr>
            <a:spLocks noGrp="1"/>
          </p:cNvSpPr>
          <p:nvPr>
            <p:ph type="ftr" sz="quarter" idx="11"/>
          </p:nvPr>
        </p:nvSpPr>
        <p:spPr/>
        <p:txBody>
          <a:bodyPr/>
          <a:lstStyle/>
          <a:p>
            <a:r>
              <a:rPr lang="en-US"/>
              <a:t>Boston University Metropolitan College</a:t>
            </a:r>
          </a:p>
        </p:txBody>
      </p:sp>
      <p:sp>
        <p:nvSpPr>
          <p:cNvPr id="7" name="Slide Number Placeholder 6">
            <a:extLst>
              <a:ext uri="{FF2B5EF4-FFF2-40B4-BE49-F238E27FC236}">
                <a16:creationId xmlns:a16="http://schemas.microsoft.com/office/drawing/2014/main" id="{37980371-C631-6347-9CDD-6C6B37EC7D7D}"/>
              </a:ext>
            </a:extLst>
          </p:cNvPr>
          <p:cNvSpPr>
            <a:spLocks noGrp="1"/>
          </p:cNvSpPr>
          <p:nvPr>
            <p:ph type="sldNum" sz="quarter" idx="12"/>
          </p:nvPr>
        </p:nvSpPr>
        <p:spPr/>
        <p:txBody>
          <a:bodyPr/>
          <a:lstStyle/>
          <a:p>
            <a:fld id="{F0E4876E-C529-7042-8A86-14EE2C2A0384}" type="slidenum">
              <a:rPr lang="en-US" smtClean="0"/>
              <a:t>3</a:t>
            </a:fld>
            <a:endParaRPr lang="en-US"/>
          </a:p>
        </p:txBody>
      </p:sp>
      <p:sp>
        <p:nvSpPr>
          <p:cNvPr id="20" name="Content Placeholder 2">
            <a:extLst>
              <a:ext uri="{FF2B5EF4-FFF2-40B4-BE49-F238E27FC236}">
                <a16:creationId xmlns:a16="http://schemas.microsoft.com/office/drawing/2014/main" id="{DE583E3C-EE0D-E648-90CF-E0827356DCE9}"/>
              </a:ext>
            </a:extLst>
          </p:cNvPr>
          <p:cNvSpPr>
            <a:spLocks noGrp="1"/>
          </p:cNvSpPr>
          <p:nvPr>
            <p:ph sz="half" idx="1"/>
          </p:nvPr>
        </p:nvSpPr>
        <p:spPr>
          <a:xfrm>
            <a:off x="0" y="1411364"/>
            <a:ext cx="12192000" cy="4743308"/>
          </a:xfrm>
          <a:solidFill>
            <a:schemeClr val="accent2">
              <a:lumMod val="20000"/>
              <a:lumOff val="80000"/>
            </a:schemeClr>
          </a:solidFill>
        </p:spPr>
        <p:txBody>
          <a:bodyPr>
            <a:normAutofit fontScale="85000" lnSpcReduction="20000"/>
          </a:bodyPr>
          <a:lstStyle/>
          <a:p>
            <a:pPr lvl="0"/>
            <a:r>
              <a:rPr lang="en-US" dirty="0"/>
              <a:t>Snowfall</a:t>
            </a:r>
            <a:endParaRPr lang="en-US" sz="1400" dirty="0"/>
          </a:p>
          <a:p>
            <a:pPr marL="457200" lvl="1" indent="0">
              <a:buNone/>
            </a:pPr>
            <a:endParaRPr lang="en-US" sz="1400" dirty="0"/>
          </a:p>
          <a:p>
            <a:pPr marL="457200" lvl="1" indent="0">
              <a:buNone/>
            </a:pPr>
            <a:r>
              <a:rPr lang="en-US" sz="1800" dirty="0"/>
              <a:t>Note: there are four sample inputs: The form of the input is the number of days on line1 followed by a space separated list of cumulative snowfall for those days:</a:t>
            </a:r>
          </a:p>
          <a:p>
            <a:pPr marL="457200" lvl="1" indent="0">
              <a:buNone/>
            </a:pPr>
            <a:br>
              <a:rPr lang="en-US" sz="2000" dirty="0"/>
            </a:br>
            <a:br>
              <a:rPr lang="en-US" dirty="0"/>
            </a:br>
            <a:r>
              <a:rPr lang="en-US" dirty="0"/>
              <a:t>8</a:t>
            </a:r>
            <a:br>
              <a:rPr lang="en-US" dirty="0"/>
            </a:br>
            <a:r>
              <a:rPr lang="en-US" dirty="0"/>
              <a:t>1 4 10 14 15 17 17 23</a:t>
            </a:r>
            <a:br>
              <a:rPr lang="en-US" dirty="0"/>
            </a:br>
            <a:br>
              <a:rPr lang="en-US" dirty="0"/>
            </a:br>
            <a:br>
              <a:rPr lang="en-US" dirty="0"/>
            </a:br>
            <a:r>
              <a:rPr lang="en-US" dirty="0"/>
              <a:t>16</a:t>
            </a:r>
            <a:br>
              <a:rPr lang="en-US" dirty="0"/>
            </a:br>
            <a:r>
              <a:rPr lang="en-US" dirty="0"/>
              <a:t>44 127 166 231 238 320 363 429 500 511 577 642 689 764 812 886</a:t>
            </a:r>
            <a:br>
              <a:rPr lang="en-US" dirty="0"/>
            </a:br>
            <a:br>
              <a:rPr lang="en-US" dirty="0"/>
            </a:br>
            <a:r>
              <a:rPr lang="en-US" dirty="0"/>
              <a:t>9</a:t>
            </a:r>
            <a:br>
              <a:rPr lang="en-US" dirty="0"/>
            </a:br>
            <a:r>
              <a:rPr lang="en-US" dirty="0"/>
              <a:t>3 8 14 19 21 24 25 25 32</a:t>
            </a:r>
            <a:br>
              <a:rPr lang="en-US" dirty="0"/>
            </a:br>
            <a:br>
              <a:rPr lang="en-US" dirty="0"/>
            </a:br>
            <a:br>
              <a:rPr lang="en-US" dirty="0"/>
            </a:br>
            <a:r>
              <a:rPr lang="en-US" dirty="0"/>
              <a:t>5</a:t>
            </a:r>
            <a:br>
              <a:rPr lang="en-US" dirty="0"/>
            </a:br>
            <a:r>
              <a:rPr lang="en-US" dirty="0"/>
              <a:t>1 2 3 4 5</a:t>
            </a:r>
            <a:br>
              <a:rPr lang="en-US" dirty="0"/>
            </a:br>
            <a:br>
              <a:rPr lang="en-US" dirty="0"/>
            </a:br>
            <a:endParaRPr lang="en-US" sz="1400" dirty="0"/>
          </a:p>
          <a:p>
            <a:pPr marL="457200" lvl="1" indent="0">
              <a:buNone/>
            </a:pPr>
            <a:endParaRPr lang="en-US" dirty="0"/>
          </a:p>
        </p:txBody>
      </p:sp>
    </p:spTree>
    <p:extLst>
      <p:ext uri="{BB962C8B-B14F-4D97-AF65-F5344CB8AC3E}">
        <p14:creationId xmlns:p14="http://schemas.microsoft.com/office/powerpoint/2010/main" val="8956833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4BDEA-2B9D-B840-809F-2653FC5DF999}"/>
              </a:ext>
            </a:extLst>
          </p:cNvPr>
          <p:cNvSpPr>
            <a:spLocks noGrp="1"/>
          </p:cNvSpPr>
          <p:nvPr>
            <p:ph type="title"/>
          </p:nvPr>
        </p:nvSpPr>
        <p:spPr>
          <a:xfrm>
            <a:off x="0" y="678094"/>
            <a:ext cx="12192000" cy="934949"/>
          </a:xfrm>
          <a:solidFill>
            <a:schemeClr val="accent2">
              <a:lumMod val="20000"/>
              <a:lumOff val="80000"/>
            </a:schemeClr>
          </a:solidFill>
        </p:spPr>
        <p:txBody>
          <a:bodyPr/>
          <a:lstStyle/>
          <a:p>
            <a:r>
              <a:rPr lang="en-US" b="1" dirty="0"/>
              <a:t>Problem 1 </a:t>
            </a:r>
            <a:r>
              <a:rPr lang="en-US" b="1" dirty="0" err="1"/>
              <a:t>con’t</a:t>
            </a:r>
            <a:r>
              <a:rPr lang="en-US" b="1" dirty="0"/>
              <a:t> (25 pts)</a:t>
            </a:r>
          </a:p>
        </p:txBody>
      </p:sp>
      <p:sp>
        <p:nvSpPr>
          <p:cNvPr id="5" name="Rectangle 4">
            <a:extLst>
              <a:ext uri="{FF2B5EF4-FFF2-40B4-BE49-F238E27FC236}">
                <a16:creationId xmlns:a16="http://schemas.microsoft.com/office/drawing/2014/main" id="{958934F1-EFDA-3042-B8D1-1627EF63AA28}"/>
              </a:ext>
            </a:extLst>
          </p:cNvPr>
          <p:cNvSpPr/>
          <p:nvPr/>
        </p:nvSpPr>
        <p:spPr>
          <a:xfrm>
            <a:off x="0" y="0"/>
            <a:ext cx="12192000" cy="678094"/>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CS526  Mid-Term</a:t>
            </a:r>
          </a:p>
        </p:txBody>
      </p:sp>
      <p:sp>
        <p:nvSpPr>
          <p:cNvPr id="6" name="Footer Placeholder 5">
            <a:extLst>
              <a:ext uri="{FF2B5EF4-FFF2-40B4-BE49-F238E27FC236}">
                <a16:creationId xmlns:a16="http://schemas.microsoft.com/office/drawing/2014/main" id="{5B12AFAF-307E-C046-A210-B750151EF6F1}"/>
              </a:ext>
            </a:extLst>
          </p:cNvPr>
          <p:cNvSpPr>
            <a:spLocks noGrp="1"/>
          </p:cNvSpPr>
          <p:nvPr>
            <p:ph type="ftr" sz="quarter" idx="11"/>
          </p:nvPr>
        </p:nvSpPr>
        <p:spPr/>
        <p:txBody>
          <a:bodyPr/>
          <a:lstStyle/>
          <a:p>
            <a:r>
              <a:rPr lang="en-US"/>
              <a:t>Boston University Metropolitan College</a:t>
            </a:r>
          </a:p>
        </p:txBody>
      </p:sp>
      <p:sp>
        <p:nvSpPr>
          <p:cNvPr id="7" name="Slide Number Placeholder 6">
            <a:extLst>
              <a:ext uri="{FF2B5EF4-FFF2-40B4-BE49-F238E27FC236}">
                <a16:creationId xmlns:a16="http://schemas.microsoft.com/office/drawing/2014/main" id="{37980371-C631-6347-9CDD-6C6B37EC7D7D}"/>
              </a:ext>
            </a:extLst>
          </p:cNvPr>
          <p:cNvSpPr>
            <a:spLocks noGrp="1"/>
          </p:cNvSpPr>
          <p:nvPr>
            <p:ph type="sldNum" sz="quarter" idx="12"/>
          </p:nvPr>
        </p:nvSpPr>
        <p:spPr/>
        <p:txBody>
          <a:bodyPr/>
          <a:lstStyle/>
          <a:p>
            <a:fld id="{F0E4876E-C529-7042-8A86-14EE2C2A0384}" type="slidenum">
              <a:rPr lang="en-US" smtClean="0"/>
              <a:t>4</a:t>
            </a:fld>
            <a:endParaRPr lang="en-US"/>
          </a:p>
        </p:txBody>
      </p:sp>
      <p:sp>
        <p:nvSpPr>
          <p:cNvPr id="20" name="Content Placeholder 2">
            <a:extLst>
              <a:ext uri="{FF2B5EF4-FFF2-40B4-BE49-F238E27FC236}">
                <a16:creationId xmlns:a16="http://schemas.microsoft.com/office/drawing/2014/main" id="{DE583E3C-EE0D-E648-90CF-E0827356DCE9}"/>
              </a:ext>
            </a:extLst>
          </p:cNvPr>
          <p:cNvSpPr>
            <a:spLocks noGrp="1"/>
          </p:cNvSpPr>
          <p:nvPr>
            <p:ph sz="half" idx="1"/>
          </p:nvPr>
        </p:nvSpPr>
        <p:spPr>
          <a:xfrm>
            <a:off x="0" y="1411364"/>
            <a:ext cx="12192000" cy="4743308"/>
          </a:xfrm>
          <a:solidFill>
            <a:schemeClr val="accent2">
              <a:lumMod val="20000"/>
              <a:lumOff val="80000"/>
            </a:schemeClr>
          </a:solidFill>
        </p:spPr>
        <p:txBody>
          <a:bodyPr>
            <a:normAutofit lnSpcReduction="10000"/>
          </a:bodyPr>
          <a:lstStyle/>
          <a:p>
            <a:pPr lvl="0"/>
            <a:r>
              <a:rPr lang="en-US" dirty="0"/>
              <a:t>Snowfall</a:t>
            </a:r>
            <a:endParaRPr lang="en-US" sz="1400" dirty="0"/>
          </a:p>
          <a:p>
            <a:pPr marL="457200" lvl="1" indent="0">
              <a:buNone/>
            </a:pPr>
            <a:endParaRPr lang="en-US" sz="1400" dirty="0"/>
          </a:p>
          <a:p>
            <a:pPr marL="457200" lvl="1" indent="0">
              <a:buNone/>
            </a:pPr>
            <a:r>
              <a:rPr lang="en-US" sz="1800" dirty="0"/>
              <a:t>Results:</a:t>
            </a:r>
          </a:p>
          <a:p>
            <a:pPr marL="457200" lvl="1" indent="0">
              <a:buNone/>
            </a:pPr>
            <a:br>
              <a:rPr lang="en-US" dirty="0"/>
            </a:br>
            <a:r>
              <a:rPr lang="en-US" dirty="0"/>
              <a:t>1 4 10 14 15 17 17 23 solution: YES</a:t>
            </a:r>
            <a:br>
              <a:rPr lang="en-US" dirty="0"/>
            </a:br>
            <a:br>
              <a:rPr lang="en-US" dirty="0"/>
            </a:br>
            <a:br>
              <a:rPr lang="en-US" dirty="0"/>
            </a:br>
            <a:r>
              <a:rPr lang="en-US" dirty="0"/>
              <a:t>44 127 166 231 238 320 363 429 500 511 577 642 689 764 812 886 solution: NO</a:t>
            </a:r>
            <a:br>
              <a:rPr lang="en-US" dirty="0"/>
            </a:br>
            <a:br>
              <a:rPr lang="en-US" dirty="0"/>
            </a:br>
            <a:br>
              <a:rPr lang="en-US" dirty="0"/>
            </a:br>
            <a:r>
              <a:rPr lang="en-US" dirty="0"/>
              <a:t>3 8 14 19 21 24 25 25 32 solution: NO</a:t>
            </a:r>
            <a:br>
              <a:rPr lang="en-US" dirty="0"/>
            </a:br>
            <a:br>
              <a:rPr lang="en-US" dirty="0"/>
            </a:br>
            <a:br>
              <a:rPr lang="en-US" dirty="0"/>
            </a:br>
            <a:r>
              <a:rPr lang="en-US" dirty="0"/>
              <a:t>1 2 3 4 5 solution: YES</a:t>
            </a:r>
            <a:br>
              <a:rPr lang="en-US" dirty="0"/>
            </a:br>
            <a:endParaRPr lang="en-US" sz="1400" dirty="0"/>
          </a:p>
          <a:p>
            <a:pPr marL="457200" lvl="1" indent="0">
              <a:buNone/>
            </a:pPr>
            <a:endParaRPr lang="en-US" dirty="0"/>
          </a:p>
        </p:txBody>
      </p:sp>
    </p:spTree>
    <p:extLst>
      <p:ext uri="{BB962C8B-B14F-4D97-AF65-F5344CB8AC3E}">
        <p14:creationId xmlns:p14="http://schemas.microsoft.com/office/powerpoint/2010/main" val="17401164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4BDEA-2B9D-B840-809F-2653FC5DF999}"/>
              </a:ext>
            </a:extLst>
          </p:cNvPr>
          <p:cNvSpPr>
            <a:spLocks noGrp="1"/>
          </p:cNvSpPr>
          <p:nvPr>
            <p:ph type="title"/>
          </p:nvPr>
        </p:nvSpPr>
        <p:spPr>
          <a:xfrm>
            <a:off x="0" y="678094"/>
            <a:ext cx="12192000" cy="934949"/>
          </a:xfrm>
          <a:solidFill>
            <a:schemeClr val="accent2">
              <a:lumMod val="20000"/>
              <a:lumOff val="80000"/>
            </a:schemeClr>
          </a:solidFill>
        </p:spPr>
        <p:txBody>
          <a:bodyPr/>
          <a:lstStyle/>
          <a:p>
            <a:r>
              <a:rPr lang="en-US" b="1" dirty="0"/>
              <a:t>Problem 2 (25 pts)</a:t>
            </a:r>
          </a:p>
        </p:txBody>
      </p:sp>
      <p:sp>
        <p:nvSpPr>
          <p:cNvPr id="5" name="Rectangle 4">
            <a:extLst>
              <a:ext uri="{FF2B5EF4-FFF2-40B4-BE49-F238E27FC236}">
                <a16:creationId xmlns:a16="http://schemas.microsoft.com/office/drawing/2014/main" id="{958934F1-EFDA-3042-B8D1-1627EF63AA28}"/>
              </a:ext>
            </a:extLst>
          </p:cNvPr>
          <p:cNvSpPr/>
          <p:nvPr/>
        </p:nvSpPr>
        <p:spPr>
          <a:xfrm>
            <a:off x="0" y="0"/>
            <a:ext cx="12192000" cy="678094"/>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CS526  Mid-Term</a:t>
            </a:r>
          </a:p>
        </p:txBody>
      </p:sp>
      <p:sp>
        <p:nvSpPr>
          <p:cNvPr id="6" name="Footer Placeholder 5">
            <a:extLst>
              <a:ext uri="{FF2B5EF4-FFF2-40B4-BE49-F238E27FC236}">
                <a16:creationId xmlns:a16="http://schemas.microsoft.com/office/drawing/2014/main" id="{5B12AFAF-307E-C046-A210-B750151EF6F1}"/>
              </a:ext>
            </a:extLst>
          </p:cNvPr>
          <p:cNvSpPr>
            <a:spLocks noGrp="1"/>
          </p:cNvSpPr>
          <p:nvPr>
            <p:ph type="ftr" sz="quarter" idx="11"/>
          </p:nvPr>
        </p:nvSpPr>
        <p:spPr/>
        <p:txBody>
          <a:bodyPr/>
          <a:lstStyle/>
          <a:p>
            <a:r>
              <a:rPr lang="en-US"/>
              <a:t>Boston University Metropolitan College</a:t>
            </a:r>
          </a:p>
        </p:txBody>
      </p:sp>
      <p:sp>
        <p:nvSpPr>
          <p:cNvPr id="7" name="Slide Number Placeholder 6">
            <a:extLst>
              <a:ext uri="{FF2B5EF4-FFF2-40B4-BE49-F238E27FC236}">
                <a16:creationId xmlns:a16="http://schemas.microsoft.com/office/drawing/2014/main" id="{37980371-C631-6347-9CDD-6C6B37EC7D7D}"/>
              </a:ext>
            </a:extLst>
          </p:cNvPr>
          <p:cNvSpPr>
            <a:spLocks noGrp="1"/>
          </p:cNvSpPr>
          <p:nvPr>
            <p:ph type="sldNum" sz="quarter" idx="12"/>
          </p:nvPr>
        </p:nvSpPr>
        <p:spPr/>
        <p:txBody>
          <a:bodyPr/>
          <a:lstStyle/>
          <a:p>
            <a:fld id="{F0E4876E-C529-7042-8A86-14EE2C2A0384}" type="slidenum">
              <a:rPr lang="en-US" smtClean="0"/>
              <a:t>5</a:t>
            </a:fld>
            <a:endParaRPr lang="en-US"/>
          </a:p>
        </p:txBody>
      </p:sp>
      <p:sp>
        <p:nvSpPr>
          <p:cNvPr id="20" name="Content Placeholder 2">
            <a:extLst>
              <a:ext uri="{FF2B5EF4-FFF2-40B4-BE49-F238E27FC236}">
                <a16:creationId xmlns:a16="http://schemas.microsoft.com/office/drawing/2014/main" id="{DE583E3C-EE0D-E648-90CF-E0827356DCE9}"/>
              </a:ext>
            </a:extLst>
          </p:cNvPr>
          <p:cNvSpPr>
            <a:spLocks noGrp="1"/>
          </p:cNvSpPr>
          <p:nvPr>
            <p:ph sz="half" idx="1"/>
          </p:nvPr>
        </p:nvSpPr>
        <p:spPr>
          <a:xfrm>
            <a:off x="0" y="1613043"/>
            <a:ext cx="12192000" cy="4743308"/>
          </a:xfrm>
          <a:solidFill>
            <a:schemeClr val="accent2">
              <a:lumMod val="20000"/>
              <a:lumOff val="80000"/>
            </a:schemeClr>
          </a:solidFill>
        </p:spPr>
        <p:txBody>
          <a:bodyPr>
            <a:normAutofit/>
          </a:bodyPr>
          <a:lstStyle/>
          <a:p>
            <a:pPr lvl="0"/>
            <a:r>
              <a:rPr lang="en-US" dirty="0"/>
              <a:t>Pandemic</a:t>
            </a:r>
          </a:p>
          <a:p>
            <a:pPr marL="457200" lvl="1" indent="0">
              <a:buNone/>
            </a:pPr>
            <a:endParaRPr lang="en-US" sz="1400" dirty="0"/>
          </a:p>
          <a:p>
            <a:pPr marL="457200" lvl="1" indent="0">
              <a:buNone/>
            </a:pPr>
            <a:r>
              <a:rPr lang="en-US" sz="2000" dirty="0"/>
              <a:t>You are in a square state with 25 counties. The counties can be arranged into an </a:t>
            </a:r>
            <a:r>
              <a:rPr lang="en-US" sz="2000" dirty="0" err="1"/>
              <a:t>NxN</a:t>
            </a:r>
            <a:r>
              <a:rPr lang="en-US" sz="2000" dirty="0"/>
              <a:t> grid (for our inputs 5x5). Two counties are neighbors if they are horizontally or vertically next to each other.</a:t>
            </a:r>
          </a:p>
          <a:p>
            <a:pPr marL="457200" lvl="1" indent="0">
              <a:buNone/>
            </a:pPr>
            <a:r>
              <a:rPr lang="en-US" sz="2000" dirty="0"/>
              <a:t>e.g. </a:t>
            </a:r>
          </a:p>
          <a:p>
            <a:pPr marL="457200" lvl="1" indent="0">
              <a:buNone/>
            </a:pPr>
            <a:endParaRPr lang="en-US" sz="1400" dirty="0"/>
          </a:p>
          <a:p>
            <a:pPr marL="1371600" lvl="3" indent="0">
              <a:buNone/>
            </a:pPr>
            <a:endParaRPr lang="en-US" sz="800" dirty="0"/>
          </a:p>
          <a:p>
            <a:pPr marL="457200" lvl="1" indent="0">
              <a:buNone/>
            </a:pPr>
            <a:endParaRPr lang="en-US" dirty="0"/>
          </a:p>
          <a:p>
            <a:pPr marL="457200" lvl="1" indent="0">
              <a:buNone/>
            </a:pPr>
            <a:endParaRPr lang="en-US" dirty="0"/>
          </a:p>
          <a:p>
            <a:pPr marL="457200" lvl="1" indent="0">
              <a:buNone/>
            </a:pPr>
            <a:endParaRPr lang="en-US" dirty="0"/>
          </a:p>
          <a:p>
            <a:pPr marL="457200" lvl="1" indent="0">
              <a:buNone/>
            </a:pPr>
            <a:endParaRPr lang="en-US" dirty="0"/>
          </a:p>
          <a:p>
            <a:pPr marL="457200" lvl="1" indent="0">
              <a:buNone/>
            </a:pPr>
            <a:endParaRPr lang="en-US" dirty="0"/>
          </a:p>
          <a:p>
            <a:pPr marL="457200" lvl="1" indent="0">
              <a:buNone/>
            </a:pPr>
            <a:br>
              <a:rPr lang="en-US" sz="2000" dirty="0"/>
            </a:br>
            <a:r>
              <a:rPr lang="en-US" sz="2000" dirty="0"/>
              <a:t>A and B are neighbors. B and C are neighbors. A and C are not neighbors</a:t>
            </a:r>
          </a:p>
          <a:p>
            <a:pPr marL="457200" lvl="1" indent="0">
              <a:buNone/>
            </a:pPr>
            <a:endParaRPr lang="en-US" dirty="0"/>
          </a:p>
        </p:txBody>
      </p:sp>
      <p:graphicFrame>
        <p:nvGraphicFramePr>
          <p:cNvPr id="3" name="Table 2">
            <a:extLst>
              <a:ext uri="{FF2B5EF4-FFF2-40B4-BE49-F238E27FC236}">
                <a16:creationId xmlns:a16="http://schemas.microsoft.com/office/drawing/2014/main" id="{B4D6368D-8C82-9541-9879-717DDA797152}"/>
              </a:ext>
            </a:extLst>
          </p:cNvPr>
          <p:cNvGraphicFramePr>
            <a:graphicFrameLocks noGrp="1"/>
          </p:cNvGraphicFramePr>
          <p:nvPr>
            <p:extLst>
              <p:ext uri="{D42A27DB-BD31-4B8C-83A1-F6EECF244321}">
                <p14:modId xmlns:p14="http://schemas.microsoft.com/office/powerpoint/2010/main" val="4065038256"/>
              </p:ext>
            </p:extLst>
          </p:nvPr>
        </p:nvGraphicFramePr>
        <p:xfrm>
          <a:off x="1854200" y="3644052"/>
          <a:ext cx="8128000" cy="1854200"/>
        </p:xfrm>
        <a:graphic>
          <a:graphicData uri="http://schemas.openxmlformats.org/drawingml/2006/table">
            <a:tbl>
              <a:tblPr firstRow="1" bandRow="1">
                <a:tableStyleId>{0505E3EF-67EA-436B-97B2-0124C06EBD24}</a:tableStyleId>
              </a:tblPr>
              <a:tblGrid>
                <a:gridCol w="1625600">
                  <a:extLst>
                    <a:ext uri="{9D8B030D-6E8A-4147-A177-3AD203B41FA5}">
                      <a16:colId xmlns:a16="http://schemas.microsoft.com/office/drawing/2014/main" val="1412121274"/>
                    </a:ext>
                  </a:extLst>
                </a:gridCol>
                <a:gridCol w="1625600">
                  <a:extLst>
                    <a:ext uri="{9D8B030D-6E8A-4147-A177-3AD203B41FA5}">
                      <a16:colId xmlns:a16="http://schemas.microsoft.com/office/drawing/2014/main" val="4055706555"/>
                    </a:ext>
                  </a:extLst>
                </a:gridCol>
                <a:gridCol w="1625600">
                  <a:extLst>
                    <a:ext uri="{9D8B030D-6E8A-4147-A177-3AD203B41FA5}">
                      <a16:colId xmlns:a16="http://schemas.microsoft.com/office/drawing/2014/main" val="2302946199"/>
                    </a:ext>
                  </a:extLst>
                </a:gridCol>
                <a:gridCol w="1625600">
                  <a:extLst>
                    <a:ext uri="{9D8B030D-6E8A-4147-A177-3AD203B41FA5}">
                      <a16:colId xmlns:a16="http://schemas.microsoft.com/office/drawing/2014/main" val="41655466"/>
                    </a:ext>
                  </a:extLst>
                </a:gridCol>
                <a:gridCol w="1625600">
                  <a:extLst>
                    <a:ext uri="{9D8B030D-6E8A-4147-A177-3AD203B41FA5}">
                      <a16:colId xmlns:a16="http://schemas.microsoft.com/office/drawing/2014/main" val="3007989655"/>
                    </a:ext>
                  </a:extLst>
                </a:gridCol>
              </a:tblGrid>
              <a:tr h="370840">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11720991"/>
                  </a:ext>
                </a:extLst>
              </a:tr>
              <a:tr h="370840">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1"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1"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3513341"/>
                  </a:ext>
                </a:extLst>
              </a:tr>
              <a:tr h="370840">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1"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2499015"/>
                  </a:ext>
                </a:extLst>
              </a:tr>
              <a:tr h="370840">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3310108"/>
                  </a:ext>
                </a:extLst>
              </a:tr>
              <a:tr h="370840">
                <a:tc>
                  <a:txBody>
                    <a:bodyPr/>
                    <a:lstStyle/>
                    <a:p>
                      <a:pPr algn="ctr"/>
                      <a:endParaRPr lang="en-US"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7265123"/>
                  </a:ext>
                </a:extLst>
              </a:tr>
            </a:tbl>
          </a:graphicData>
        </a:graphic>
      </p:graphicFrame>
    </p:spTree>
    <p:extLst>
      <p:ext uri="{BB962C8B-B14F-4D97-AF65-F5344CB8AC3E}">
        <p14:creationId xmlns:p14="http://schemas.microsoft.com/office/powerpoint/2010/main" val="26767960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4BDEA-2B9D-B840-809F-2653FC5DF999}"/>
              </a:ext>
            </a:extLst>
          </p:cNvPr>
          <p:cNvSpPr>
            <a:spLocks noGrp="1"/>
          </p:cNvSpPr>
          <p:nvPr>
            <p:ph type="title"/>
          </p:nvPr>
        </p:nvSpPr>
        <p:spPr>
          <a:xfrm>
            <a:off x="0" y="678094"/>
            <a:ext cx="12192000" cy="934949"/>
          </a:xfrm>
          <a:solidFill>
            <a:schemeClr val="accent2">
              <a:lumMod val="20000"/>
              <a:lumOff val="80000"/>
            </a:schemeClr>
          </a:solidFill>
        </p:spPr>
        <p:txBody>
          <a:bodyPr/>
          <a:lstStyle/>
          <a:p>
            <a:r>
              <a:rPr lang="en-US" b="1" dirty="0"/>
              <a:t>Problem 2 </a:t>
            </a:r>
            <a:r>
              <a:rPr lang="en-US" b="1" dirty="0" err="1"/>
              <a:t>con’t</a:t>
            </a:r>
            <a:r>
              <a:rPr lang="en-US" b="1" dirty="0"/>
              <a:t> (25 pts)</a:t>
            </a:r>
          </a:p>
        </p:txBody>
      </p:sp>
      <p:sp>
        <p:nvSpPr>
          <p:cNvPr id="5" name="Rectangle 4">
            <a:extLst>
              <a:ext uri="{FF2B5EF4-FFF2-40B4-BE49-F238E27FC236}">
                <a16:creationId xmlns:a16="http://schemas.microsoft.com/office/drawing/2014/main" id="{958934F1-EFDA-3042-B8D1-1627EF63AA28}"/>
              </a:ext>
            </a:extLst>
          </p:cNvPr>
          <p:cNvSpPr/>
          <p:nvPr/>
        </p:nvSpPr>
        <p:spPr>
          <a:xfrm>
            <a:off x="0" y="0"/>
            <a:ext cx="12192000" cy="678094"/>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CS526  Mid-Term</a:t>
            </a:r>
          </a:p>
        </p:txBody>
      </p:sp>
      <p:sp>
        <p:nvSpPr>
          <p:cNvPr id="6" name="Footer Placeholder 5">
            <a:extLst>
              <a:ext uri="{FF2B5EF4-FFF2-40B4-BE49-F238E27FC236}">
                <a16:creationId xmlns:a16="http://schemas.microsoft.com/office/drawing/2014/main" id="{5B12AFAF-307E-C046-A210-B750151EF6F1}"/>
              </a:ext>
            </a:extLst>
          </p:cNvPr>
          <p:cNvSpPr>
            <a:spLocks noGrp="1"/>
          </p:cNvSpPr>
          <p:nvPr>
            <p:ph type="ftr" sz="quarter" idx="11"/>
          </p:nvPr>
        </p:nvSpPr>
        <p:spPr/>
        <p:txBody>
          <a:bodyPr/>
          <a:lstStyle/>
          <a:p>
            <a:r>
              <a:rPr lang="en-US"/>
              <a:t>Boston University Metropolitan College</a:t>
            </a:r>
          </a:p>
        </p:txBody>
      </p:sp>
      <p:sp>
        <p:nvSpPr>
          <p:cNvPr id="7" name="Slide Number Placeholder 6">
            <a:extLst>
              <a:ext uri="{FF2B5EF4-FFF2-40B4-BE49-F238E27FC236}">
                <a16:creationId xmlns:a16="http://schemas.microsoft.com/office/drawing/2014/main" id="{37980371-C631-6347-9CDD-6C6B37EC7D7D}"/>
              </a:ext>
            </a:extLst>
          </p:cNvPr>
          <p:cNvSpPr>
            <a:spLocks noGrp="1"/>
          </p:cNvSpPr>
          <p:nvPr>
            <p:ph type="sldNum" sz="quarter" idx="12"/>
          </p:nvPr>
        </p:nvSpPr>
        <p:spPr/>
        <p:txBody>
          <a:bodyPr/>
          <a:lstStyle/>
          <a:p>
            <a:fld id="{F0E4876E-C529-7042-8A86-14EE2C2A0384}" type="slidenum">
              <a:rPr lang="en-US" smtClean="0"/>
              <a:t>6</a:t>
            </a:fld>
            <a:endParaRPr lang="en-US"/>
          </a:p>
        </p:txBody>
      </p:sp>
      <p:sp>
        <p:nvSpPr>
          <p:cNvPr id="20" name="Content Placeholder 2">
            <a:extLst>
              <a:ext uri="{FF2B5EF4-FFF2-40B4-BE49-F238E27FC236}">
                <a16:creationId xmlns:a16="http://schemas.microsoft.com/office/drawing/2014/main" id="{DE583E3C-EE0D-E648-90CF-E0827356DCE9}"/>
              </a:ext>
            </a:extLst>
          </p:cNvPr>
          <p:cNvSpPr>
            <a:spLocks noGrp="1"/>
          </p:cNvSpPr>
          <p:nvPr>
            <p:ph sz="half" idx="1"/>
          </p:nvPr>
        </p:nvSpPr>
        <p:spPr>
          <a:xfrm>
            <a:off x="0" y="1613043"/>
            <a:ext cx="12192000" cy="4743308"/>
          </a:xfrm>
          <a:solidFill>
            <a:schemeClr val="accent2">
              <a:lumMod val="20000"/>
              <a:lumOff val="80000"/>
            </a:schemeClr>
          </a:solidFill>
        </p:spPr>
        <p:txBody>
          <a:bodyPr>
            <a:normAutofit/>
          </a:bodyPr>
          <a:lstStyle/>
          <a:p>
            <a:pPr lvl="0"/>
            <a:r>
              <a:rPr lang="en-US" dirty="0"/>
              <a:t>Pandemic </a:t>
            </a:r>
            <a:r>
              <a:rPr lang="en-US" dirty="0" err="1"/>
              <a:t>con’t</a:t>
            </a:r>
            <a:endParaRPr lang="en-US" dirty="0"/>
          </a:p>
          <a:p>
            <a:pPr marL="457200" lvl="1" indent="0">
              <a:buNone/>
            </a:pPr>
            <a:endParaRPr lang="en-US" sz="1400" dirty="0"/>
          </a:p>
          <a:p>
            <a:pPr marL="457200" lvl="1" indent="0">
              <a:buNone/>
            </a:pPr>
            <a:r>
              <a:rPr lang="en-US" sz="2000" dirty="0"/>
              <a:t>Some of the counties contain people infected by a mysterious virus which is highly contagious. If a county has an infected person, that person never becomes healthy and the county is considered infected. Each day the infection spreads to healthy counties if that county has at least two infected neighbors.</a:t>
            </a:r>
          </a:p>
          <a:p>
            <a:pPr marL="457200" lvl="1" indent="0">
              <a:buNone/>
            </a:pPr>
            <a:r>
              <a:rPr lang="en-US" sz="2000" dirty="0"/>
              <a:t>For example let’s start with the following configuration of infected (in red) counties:</a:t>
            </a:r>
          </a:p>
          <a:p>
            <a:pPr marL="457200" lvl="1" indent="0">
              <a:buNone/>
            </a:pPr>
            <a:r>
              <a:rPr lang="en-US" sz="2000" dirty="0"/>
              <a:t>Day 1</a:t>
            </a:r>
          </a:p>
        </p:txBody>
      </p:sp>
      <p:graphicFrame>
        <p:nvGraphicFramePr>
          <p:cNvPr id="8" name="Table 7">
            <a:extLst>
              <a:ext uri="{FF2B5EF4-FFF2-40B4-BE49-F238E27FC236}">
                <a16:creationId xmlns:a16="http://schemas.microsoft.com/office/drawing/2014/main" id="{29F93A9D-1926-1940-B723-B8E39E00395E}"/>
              </a:ext>
            </a:extLst>
          </p:cNvPr>
          <p:cNvGraphicFramePr>
            <a:graphicFrameLocks noGrp="1"/>
          </p:cNvGraphicFramePr>
          <p:nvPr>
            <p:extLst>
              <p:ext uri="{D42A27DB-BD31-4B8C-83A1-F6EECF244321}">
                <p14:modId xmlns:p14="http://schemas.microsoft.com/office/powerpoint/2010/main" val="867686144"/>
              </p:ext>
            </p:extLst>
          </p:nvPr>
        </p:nvGraphicFramePr>
        <p:xfrm>
          <a:off x="1854200" y="4137026"/>
          <a:ext cx="8128000" cy="1854200"/>
        </p:xfrm>
        <a:graphic>
          <a:graphicData uri="http://schemas.openxmlformats.org/drawingml/2006/table">
            <a:tbl>
              <a:tblPr firstRow="1" bandRow="1">
                <a:tableStyleId>{0505E3EF-67EA-436B-97B2-0124C06EBD24}</a:tableStyleId>
              </a:tblPr>
              <a:tblGrid>
                <a:gridCol w="1625600">
                  <a:extLst>
                    <a:ext uri="{9D8B030D-6E8A-4147-A177-3AD203B41FA5}">
                      <a16:colId xmlns:a16="http://schemas.microsoft.com/office/drawing/2014/main" val="1412121274"/>
                    </a:ext>
                  </a:extLst>
                </a:gridCol>
                <a:gridCol w="1625600">
                  <a:extLst>
                    <a:ext uri="{9D8B030D-6E8A-4147-A177-3AD203B41FA5}">
                      <a16:colId xmlns:a16="http://schemas.microsoft.com/office/drawing/2014/main" val="4055706555"/>
                    </a:ext>
                  </a:extLst>
                </a:gridCol>
                <a:gridCol w="1625600">
                  <a:extLst>
                    <a:ext uri="{9D8B030D-6E8A-4147-A177-3AD203B41FA5}">
                      <a16:colId xmlns:a16="http://schemas.microsoft.com/office/drawing/2014/main" val="2302946199"/>
                    </a:ext>
                  </a:extLst>
                </a:gridCol>
                <a:gridCol w="1625600">
                  <a:extLst>
                    <a:ext uri="{9D8B030D-6E8A-4147-A177-3AD203B41FA5}">
                      <a16:colId xmlns:a16="http://schemas.microsoft.com/office/drawing/2014/main" val="41655466"/>
                    </a:ext>
                  </a:extLst>
                </a:gridCol>
                <a:gridCol w="1625600">
                  <a:extLst>
                    <a:ext uri="{9D8B030D-6E8A-4147-A177-3AD203B41FA5}">
                      <a16:colId xmlns:a16="http://schemas.microsoft.com/office/drawing/2014/main" val="3007989655"/>
                    </a:ext>
                  </a:extLst>
                </a:gridCol>
              </a:tblGrid>
              <a:tr h="370840">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11720991"/>
                  </a:ext>
                </a:extLst>
              </a:tr>
              <a:tr h="370840">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algn="ctr"/>
                      <a:endParaRPr lang="en-US"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3513341"/>
                  </a:ext>
                </a:extLst>
              </a:tr>
              <a:tr h="370840">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2499015"/>
                  </a:ext>
                </a:extLst>
              </a:tr>
              <a:tr h="370840">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2123310108"/>
                  </a:ext>
                </a:extLst>
              </a:tr>
              <a:tr h="370840">
                <a:tc>
                  <a:txBody>
                    <a:bodyPr/>
                    <a:lstStyle/>
                    <a:p>
                      <a:pPr algn="ctr"/>
                      <a:endParaRPr lang="en-US"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7265123"/>
                  </a:ext>
                </a:extLst>
              </a:tr>
            </a:tbl>
          </a:graphicData>
        </a:graphic>
      </p:graphicFrame>
    </p:spTree>
    <p:extLst>
      <p:ext uri="{BB962C8B-B14F-4D97-AF65-F5344CB8AC3E}">
        <p14:creationId xmlns:p14="http://schemas.microsoft.com/office/powerpoint/2010/main" val="22989737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4BDEA-2B9D-B840-809F-2653FC5DF999}"/>
              </a:ext>
            </a:extLst>
          </p:cNvPr>
          <p:cNvSpPr>
            <a:spLocks noGrp="1"/>
          </p:cNvSpPr>
          <p:nvPr>
            <p:ph type="title"/>
          </p:nvPr>
        </p:nvSpPr>
        <p:spPr>
          <a:xfrm>
            <a:off x="0" y="678094"/>
            <a:ext cx="12192000" cy="934949"/>
          </a:xfrm>
          <a:solidFill>
            <a:schemeClr val="accent2">
              <a:lumMod val="20000"/>
              <a:lumOff val="80000"/>
            </a:schemeClr>
          </a:solidFill>
        </p:spPr>
        <p:txBody>
          <a:bodyPr/>
          <a:lstStyle/>
          <a:p>
            <a:r>
              <a:rPr lang="en-US" b="1" dirty="0"/>
              <a:t>Problem 2 </a:t>
            </a:r>
            <a:r>
              <a:rPr lang="en-US" b="1" dirty="0" err="1"/>
              <a:t>con’t</a:t>
            </a:r>
            <a:r>
              <a:rPr lang="en-US" b="1" dirty="0"/>
              <a:t> (25 pts)</a:t>
            </a:r>
          </a:p>
        </p:txBody>
      </p:sp>
      <p:sp>
        <p:nvSpPr>
          <p:cNvPr id="5" name="Rectangle 4">
            <a:extLst>
              <a:ext uri="{FF2B5EF4-FFF2-40B4-BE49-F238E27FC236}">
                <a16:creationId xmlns:a16="http://schemas.microsoft.com/office/drawing/2014/main" id="{958934F1-EFDA-3042-B8D1-1627EF63AA28}"/>
              </a:ext>
            </a:extLst>
          </p:cNvPr>
          <p:cNvSpPr/>
          <p:nvPr/>
        </p:nvSpPr>
        <p:spPr>
          <a:xfrm>
            <a:off x="0" y="0"/>
            <a:ext cx="12192000" cy="678094"/>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CS526  Mid-Term</a:t>
            </a:r>
          </a:p>
        </p:txBody>
      </p:sp>
      <p:sp>
        <p:nvSpPr>
          <p:cNvPr id="6" name="Footer Placeholder 5">
            <a:extLst>
              <a:ext uri="{FF2B5EF4-FFF2-40B4-BE49-F238E27FC236}">
                <a16:creationId xmlns:a16="http://schemas.microsoft.com/office/drawing/2014/main" id="{5B12AFAF-307E-C046-A210-B750151EF6F1}"/>
              </a:ext>
            </a:extLst>
          </p:cNvPr>
          <p:cNvSpPr>
            <a:spLocks noGrp="1"/>
          </p:cNvSpPr>
          <p:nvPr>
            <p:ph type="ftr" sz="quarter" idx="11"/>
          </p:nvPr>
        </p:nvSpPr>
        <p:spPr/>
        <p:txBody>
          <a:bodyPr/>
          <a:lstStyle/>
          <a:p>
            <a:r>
              <a:rPr lang="en-US"/>
              <a:t>Boston University Metropolitan College</a:t>
            </a:r>
          </a:p>
        </p:txBody>
      </p:sp>
      <p:sp>
        <p:nvSpPr>
          <p:cNvPr id="7" name="Slide Number Placeholder 6">
            <a:extLst>
              <a:ext uri="{FF2B5EF4-FFF2-40B4-BE49-F238E27FC236}">
                <a16:creationId xmlns:a16="http://schemas.microsoft.com/office/drawing/2014/main" id="{37980371-C631-6347-9CDD-6C6B37EC7D7D}"/>
              </a:ext>
            </a:extLst>
          </p:cNvPr>
          <p:cNvSpPr>
            <a:spLocks noGrp="1"/>
          </p:cNvSpPr>
          <p:nvPr>
            <p:ph type="sldNum" sz="quarter" idx="12"/>
          </p:nvPr>
        </p:nvSpPr>
        <p:spPr/>
        <p:txBody>
          <a:bodyPr/>
          <a:lstStyle/>
          <a:p>
            <a:fld id="{F0E4876E-C529-7042-8A86-14EE2C2A0384}" type="slidenum">
              <a:rPr lang="en-US" smtClean="0"/>
              <a:t>7</a:t>
            </a:fld>
            <a:endParaRPr lang="en-US"/>
          </a:p>
        </p:txBody>
      </p:sp>
      <p:sp>
        <p:nvSpPr>
          <p:cNvPr id="20" name="Content Placeholder 2">
            <a:extLst>
              <a:ext uri="{FF2B5EF4-FFF2-40B4-BE49-F238E27FC236}">
                <a16:creationId xmlns:a16="http://schemas.microsoft.com/office/drawing/2014/main" id="{DE583E3C-EE0D-E648-90CF-E0827356DCE9}"/>
              </a:ext>
            </a:extLst>
          </p:cNvPr>
          <p:cNvSpPr>
            <a:spLocks noGrp="1"/>
          </p:cNvSpPr>
          <p:nvPr>
            <p:ph sz="half" idx="1"/>
          </p:nvPr>
        </p:nvSpPr>
        <p:spPr>
          <a:xfrm>
            <a:off x="0" y="1613043"/>
            <a:ext cx="12192000" cy="4743308"/>
          </a:xfrm>
          <a:solidFill>
            <a:schemeClr val="accent2">
              <a:lumMod val="20000"/>
              <a:lumOff val="80000"/>
            </a:schemeClr>
          </a:solidFill>
        </p:spPr>
        <p:txBody>
          <a:bodyPr>
            <a:normAutofit/>
          </a:bodyPr>
          <a:lstStyle/>
          <a:p>
            <a:pPr lvl="0"/>
            <a:r>
              <a:rPr lang="en-US" dirty="0"/>
              <a:t>Pandemic </a:t>
            </a:r>
            <a:r>
              <a:rPr lang="en-US" dirty="0" err="1"/>
              <a:t>con’t</a:t>
            </a:r>
            <a:endParaRPr lang="en-US" dirty="0"/>
          </a:p>
          <a:p>
            <a:pPr marL="457200" lvl="1" indent="0">
              <a:buNone/>
            </a:pPr>
            <a:endParaRPr lang="en-US" sz="2000" dirty="0"/>
          </a:p>
          <a:p>
            <a:pPr marL="457200" lvl="1" indent="0">
              <a:buNone/>
            </a:pPr>
            <a:r>
              <a:rPr lang="en-US" sz="2000" dirty="0"/>
              <a:t>Day 2</a:t>
            </a:r>
          </a:p>
        </p:txBody>
      </p:sp>
      <p:graphicFrame>
        <p:nvGraphicFramePr>
          <p:cNvPr id="8" name="Table 7">
            <a:extLst>
              <a:ext uri="{FF2B5EF4-FFF2-40B4-BE49-F238E27FC236}">
                <a16:creationId xmlns:a16="http://schemas.microsoft.com/office/drawing/2014/main" id="{29F93A9D-1926-1940-B723-B8E39E00395E}"/>
              </a:ext>
            </a:extLst>
          </p:cNvPr>
          <p:cNvGraphicFramePr>
            <a:graphicFrameLocks noGrp="1"/>
          </p:cNvGraphicFramePr>
          <p:nvPr>
            <p:extLst>
              <p:ext uri="{D42A27DB-BD31-4B8C-83A1-F6EECF244321}">
                <p14:modId xmlns:p14="http://schemas.microsoft.com/office/powerpoint/2010/main" val="269215715"/>
              </p:ext>
            </p:extLst>
          </p:nvPr>
        </p:nvGraphicFramePr>
        <p:xfrm>
          <a:off x="1498600" y="3256493"/>
          <a:ext cx="8128000" cy="1854200"/>
        </p:xfrm>
        <a:graphic>
          <a:graphicData uri="http://schemas.openxmlformats.org/drawingml/2006/table">
            <a:tbl>
              <a:tblPr firstRow="1" bandRow="1">
                <a:tableStyleId>{0505E3EF-67EA-436B-97B2-0124C06EBD24}</a:tableStyleId>
              </a:tblPr>
              <a:tblGrid>
                <a:gridCol w="1625600">
                  <a:extLst>
                    <a:ext uri="{9D8B030D-6E8A-4147-A177-3AD203B41FA5}">
                      <a16:colId xmlns:a16="http://schemas.microsoft.com/office/drawing/2014/main" val="1412121274"/>
                    </a:ext>
                  </a:extLst>
                </a:gridCol>
                <a:gridCol w="1625600">
                  <a:extLst>
                    <a:ext uri="{9D8B030D-6E8A-4147-A177-3AD203B41FA5}">
                      <a16:colId xmlns:a16="http://schemas.microsoft.com/office/drawing/2014/main" val="4055706555"/>
                    </a:ext>
                  </a:extLst>
                </a:gridCol>
                <a:gridCol w="1625600">
                  <a:extLst>
                    <a:ext uri="{9D8B030D-6E8A-4147-A177-3AD203B41FA5}">
                      <a16:colId xmlns:a16="http://schemas.microsoft.com/office/drawing/2014/main" val="2302946199"/>
                    </a:ext>
                  </a:extLst>
                </a:gridCol>
                <a:gridCol w="1625600">
                  <a:extLst>
                    <a:ext uri="{9D8B030D-6E8A-4147-A177-3AD203B41FA5}">
                      <a16:colId xmlns:a16="http://schemas.microsoft.com/office/drawing/2014/main" val="41655466"/>
                    </a:ext>
                  </a:extLst>
                </a:gridCol>
                <a:gridCol w="1625600">
                  <a:extLst>
                    <a:ext uri="{9D8B030D-6E8A-4147-A177-3AD203B41FA5}">
                      <a16:colId xmlns:a16="http://schemas.microsoft.com/office/drawing/2014/main" val="3007989655"/>
                    </a:ext>
                  </a:extLst>
                </a:gridCol>
              </a:tblGrid>
              <a:tr h="370840">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11720991"/>
                  </a:ext>
                </a:extLst>
              </a:tr>
              <a:tr h="370840">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algn="ctr"/>
                      <a:endParaRPr lang="en-US"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3513341"/>
                  </a:ext>
                </a:extLst>
              </a:tr>
              <a:tr h="370840">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2499015"/>
                  </a:ext>
                </a:extLst>
              </a:tr>
              <a:tr h="370840">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2123310108"/>
                  </a:ext>
                </a:extLst>
              </a:tr>
              <a:tr h="370840">
                <a:tc>
                  <a:txBody>
                    <a:bodyPr/>
                    <a:lstStyle/>
                    <a:p>
                      <a:pPr algn="ctr"/>
                      <a:endParaRPr lang="en-US"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7265123"/>
                  </a:ext>
                </a:extLst>
              </a:tr>
            </a:tbl>
          </a:graphicData>
        </a:graphic>
      </p:graphicFrame>
    </p:spTree>
    <p:extLst>
      <p:ext uri="{BB962C8B-B14F-4D97-AF65-F5344CB8AC3E}">
        <p14:creationId xmlns:p14="http://schemas.microsoft.com/office/powerpoint/2010/main" val="29326662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4BDEA-2B9D-B840-809F-2653FC5DF999}"/>
              </a:ext>
            </a:extLst>
          </p:cNvPr>
          <p:cNvSpPr>
            <a:spLocks noGrp="1"/>
          </p:cNvSpPr>
          <p:nvPr>
            <p:ph type="title"/>
          </p:nvPr>
        </p:nvSpPr>
        <p:spPr>
          <a:xfrm>
            <a:off x="0" y="678094"/>
            <a:ext cx="12192000" cy="934949"/>
          </a:xfrm>
          <a:solidFill>
            <a:schemeClr val="accent2">
              <a:lumMod val="20000"/>
              <a:lumOff val="80000"/>
            </a:schemeClr>
          </a:solidFill>
        </p:spPr>
        <p:txBody>
          <a:bodyPr/>
          <a:lstStyle/>
          <a:p>
            <a:r>
              <a:rPr lang="en-US" b="1" dirty="0"/>
              <a:t>Problem 2 </a:t>
            </a:r>
            <a:r>
              <a:rPr lang="en-US" b="1" dirty="0" err="1"/>
              <a:t>con’t</a:t>
            </a:r>
            <a:r>
              <a:rPr lang="en-US" b="1" dirty="0"/>
              <a:t> (25 pts)</a:t>
            </a:r>
          </a:p>
        </p:txBody>
      </p:sp>
      <p:sp>
        <p:nvSpPr>
          <p:cNvPr id="5" name="Rectangle 4">
            <a:extLst>
              <a:ext uri="{FF2B5EF4-FFF2-40B4-BE49-F238E27FC236}">
                <a16:creationId xmlns:a16="http://schemas.microsoft.com/office/drawing/2014/main" id="{958934F1-EFDA-3042-B8D1-1627EF63AA28}"/>
              </a:ext>
            </a:extLst>
          </p:cNvPr>
          <p:cNvSpPr/>
          <p:nvPr/>
        </p:nvSpPr>
        <p:spPr>
          <a:xfrm>
            <a:off x="0" y="0"/>
            <a:ext cx="12192000" cy="678094"/>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CS526  Mid-Term</a:t>
            </a:r>
          </a:p>
        </p:txBody>
      </p:sp>
      <p:sp>
        <p:nvSpPr>
          <p:cNvPr id="6" name="Footer Placeholder 5">
            <a:extLst>
              <a:ext uri="{FF2B5EF4-FFF2-40B4-BE49-F238E27FC236}">
                <a16:creationId xmlns:a16="http://schemas.microsoft.com/office/drawing/2014/main" id="{5B12AFAF-307E-C046-A210-B750151EF6F1}"/>
              </a:ext>
            </a:extLst>
          </p:cNvPr>
          <p:cNvSpPr>
            <a:spLocks noGrp="1"/>
          </p:cNvSpPr>
          <p:nvPr>
            <p:ph type="ftr" sz="quarter" idx="11"/>
          </p:nvPr>
        </p:nvSpPr>
        <p:spPr/>
        <p:txBody>
          <a:bodyPr/>
          <a:lstStyle/>
          <a:p>
            <a:r>
              <a:rPr lang="en-US"/>
              <a:t>Boston University Metropolitan College</a:t>
            </a:r>
          </a:p>
        </p:txBody>
      </p:sp>
      <p:sp>
        <p:nvSpPr>
          <p:cNvPr id="7" name="Slide Number Placeholder 6">
            <a:extLst>
              <a:ext uri="{FF2B5EF4-FFF2-40B4-BE49-F238E27FC236}">
                <a16:creationId xmlns:a16="http://schemas.microsoft.com/office/drawing/2014/main" id="{37980371-C631-6347-9CDD-6C6B37EC7D7D}"/>
              </a:ext>
            </a:extLst>
          </p:cNvPr>
          <p:cNvSpPr>
            <a:spLocks noGrp="1"/>
          </p:cNvSpPr>
          <p:nvPr>
            <p:ph type="sldNum" sz="quarter" idx="12"/>
          </p:nvPr>
        </p:nvSpPr>
        <p:spPr/>
        <p:txBody>
          <a:bodyPr/>
          <a:lstStyle/>
          <a:p>
            <a:fld id="{F0E4876E-C529-7042-8A86-14EE2C2A0384}" type="slidenum">
              <a:rPr lang="en-US" smtClean="0"/>
              <a:t>8</a:t>
            </a:fld>
            <a:endParaRPr lang="en-US"/>
          </a:p>
        </p:txBody>
      </p:sp>
      <p:sp>
        <p:nvSpPr>
          <p:cNvPr id="20" name="Content Placeholder 2">
            <a:extLst>
              <a:ext uri="{FF2B5EF4-FFF2-40B4-BE49-F238E27FC236}">
                <a16:creationId xmlns:a16="http://schemas.microsoft.com/office/drawing/2014/main" id="{DE583E3C-EE0D-E648-90CF-E0827356DCE9}"/>
              </a:ext>
            </a:extLst>
          </p:cNvPr>
          <p:cNvSpPr>
            <a:spLocks noGrp="1"/>
          </p:cNvSpPr>
          <p:nvPr>
            <p:ph sz="half" idx="1"/>
          </p:nvPr>
        </p:nvSpPr>
        <p:spPr>
          <a:xfrm>
            <a:off x="0" y="1613043"/>
            <a:ext cx="12192000" cy="4743308"/>
          </a:xfrm>
          <a:solidFill>
            <a:schemeClr val="accent2">
              <a:lumMod val="20000"/>
              <a:lumOff val="80000"/>
            </a:schemeClr>
          </a:solidFill>
        </p:spPr>
        <p:txBody>
          <a:bodyPr>
            <a:normAutofit/>
          </a:bodyPr>
          <a:lstStyle/>
          <a:p>
            <a:pPr lvl="0"/>
            <a:r>
              <a:rPr lang="en-US" dirty="0"/>
              <a:t>Pandemic </a:t>
            </a:r>
            <a:r>
              <a:rPr lang="en-US" dirty="0" err="1"/>
              <a:t>con’t</a:t>
            </a:r>
            <a:endParaRPr lang="en-US" dirty="0"/>
          </a:p>
          <a:p>
            <a:pPr marL="457200" lvl="1" indent="0">
              <a:buNone/>
            </a:pPr>
            <a:endParaRPr lang="en-US" sz="2000" dirty="0"/>
          </a:p>
          <a:p>
            <a:pPr marL="457200" lvl="1" indent="0">
              <a:buNone/>
            </a:pPr>
            <a:r>
              <a:rPr lang="en-US" sz="2000" dirty="0"/>
              <a:t>Day 3</a:t>
            </a:r>
          </a:p>
        </p:txBody>
      </p:sp>
      <p:graphicFrame>
        <p:nvGraphicFramePr>
          <p:cNvPr id="8" name="Table 7">
            <a:extLst>
              <a:ext uri="{FF2B5EF4-FFF2-40B4-BE49-F238E27FC236}">
                <a16:creationId xmlns:a16="http://schemas.microsoft.com/office/drawing/2014/main" id="{29F93A9D-1926-1940-B723-B8E39E00395E}"/>
              </a:ext>
            </a:extLst>
          </p:cNvPr>
          <p:cNvGraphicFramePr>
            <a:graphicFrameLocks noGrp="1"/>
          </p:cNvGraphicFramePr>
          <p:nvPr>
            <p:extLst>
              <p:ext uri="{D42A27DB-BD31-4B8C-83A1-F6EECF244321}">
                <p14:modId xmlns:p14="http://schemas.microsoft.com/office/powerpoint/2010/main" val="4061216590"/>
              </p:ext>
            </p:extLst>
          </p:nvPr>
        </p:nvGraphicFramePr>
        <p:xfrm>
          <a:off x="1498600" y="3256493"/>
          <a:ext cx="8128000" cy="1854200"/>
        </p:xfrm>
        <a:graphic>
          <a:graphicData uri="http://schemas.openxmlformats.org/drawingml/2006/table">
            <a:tbl>
              <a:tblPr firstRow="1" bandRow="1">
                <a:tableStyleId>{0505E3EF-67EA-436B-97B2-0124C06EBD24}</a:tableStyleId>
              </a:tblPr>
              <a:tblGrid>
                <a:gridCol w="1625600">
                  <a:extLst>
                    <a:ext uri="{9D8B030D-6E8A-4147-A177-3AD203B41FA5}">
                      <a16:colId xmlns:a16="http://schemas.microsoft.com/office/drawing/2014/main" val="1412121274"/>
                    </a:ext>
                  </a:extLst>
                </a:gridCol>
                <a:gridCol w="1625600">
                  <a:extLst>
                    <a:ext uri="{9D8B030D-6E8A-4147-A177-3AD203B41FA5}">
                      <a16:colId xmlns:a16="http://schemas.microsoft.com/office/drawing/2014/main" val="4055706555"/>
                    </a:ext>
                  </a:extLst>
                </a:gridCol>
                <a:gridCol w="1625600">
                  <a:extLst>
                    <a:ext uri="{9D8B030D-6E8A-4147-A177-3AD203B41FA5}">
                      <a16:colId xmlns:a16="http://schemas.microsoft.com/office/drawing/2014/main" val="2302946199"/>
                    </a:ext>
                  </a:extLst>
                </a:gridCol>
                <a:gridCol w="1625600">
                  <a:extLst>
                    <a:ext uri="{9D8B030D-6E8A-4147-A177-3AD203B41FA5}">
                      <a16:colId xmlns:a16="http://schemas.microsoft.com/office/drawing/2014/main" val="41655466"/>
                    </a:ext>
                  </a:extLst>
                </a:gridCol>
                <a:gridCol w="1625600">
                  <a:extLst>
                    <a:ext uri="{9D8B030D-6E8A-4147-A177-3AD203B41FA5}">
                      <a16:colId xmlns:a16="http://schemas.microsoft.com/office/drawing/2014/main" val="3007989655"/>
                    </a:ext>
                  </a:extLst>
                </a:gridCol>
              </a:tblGrid>
              <a:tr h="370840">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11720991"/>
                  </a:ext>
                </a:extLst>
              </a:tr>
              <a:tr h="370840">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algn="ctr"/>
                      <a:endParaRPr lang="en-US"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3513341"/>
                  </a:ext>
                </a:extLst>
              </a:tr>
              <a:tr h="370840">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2392499015"/>
                  </a:ext>
                </a:extLst>
              </a:tr>
              <a:tr h="370840">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2123310108"/>
                  </a:ext>
                </a:extLst>
              </a:tr>
              <a:tr h="370840">
                <a:tc>
                  <a:txBody>
                    <a:bodyPr/>
                    <a:lstStyle/>
                    <a:p>
                      <a:pPr algn="ctr"/>
                      <a:endParaRPr lang="en-US"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7265123"/>
                  </a:ext>
                </a:extLst>
              </a:tr>
            </a:tbl>
          </a:graphicData>
        </a:graphic>
      </p:graphicFrame>
    </p:spTree>
    <p:extLst>
      <p:ext uri="{BB962C8B-B14F-4D97-AF65-F5344CB8AC3E}">
        <p14:creationId xmlns:p14="http://schemas.microsoft.com/office/powerpoint/2010/main" val="27878243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4BDEA-2B9D-B840-809F-2653FC5DF999}"/>
              </a:ext>
            </a:extLst>
          </p:cNvPr>
          <p:cNvSpPr>
            <a:spLocks noGrp="1"/>
          </p:cNvSpPr>
          <p:nvPr>
            <p:ph type="title"/>
          </p:nvPr>
        </p:nvSpPr>
        <p:spPr>
          <a:xfrm>
            <a:off x="0" y="678094"/>
            <a:ext cx="12192000" cy="934949"/>
          </a:xfrm>
          <a:solidFill>
            <a:schemeClr val="accent2">
              <a:lumMod val="20000"/>
              <a:lumOff val="80000"/>
            </a:schemeClr>
          </a:solidFill>
        </p:spPr>
        <p:txBody>
          <a:bodyPr/>
          <a:lstStyle/>
          <a:p>
            <a:r>
              <a:rPr lang="en-US" b="1" dirty="0"/>
              <a:t>Problem 2 </a:t>
            </a:r>
            <a:r>
              <a:rPr lang="en-US" b="1" dirty="0" err="1"/>
              <a:t>con’t</a:t>
            </a:r>
            <a:r>
              <a:rPr lang="en-US" b="1" dirty="0"/>
              <a:t> (25 pts)</a:t>
            </a:r>
          </a:p>
        </p:txBody>
      </p:sp>
      <p:sp>
        <p:nvSpPr>
          <p:cNvPr id="5" name="Rectangle 4">
            <a:extLst>
              <a:ext uri="{FF2B5EF4-FFF2-40B4-BE49-F238E27FC236}">
                <a16:creationId xmlns:a16="http://schemas.microsoft.com/office/drawing/2014/main" id="{958934F1-EFDA-3042-B8D1-1627EF63AA28}"/>
              </a:ext>
            </a:extLst>
          </p:cNvPr>
          <p:cNvSpPr/>
          <p:nvPr/>
        </p:nvSpPr>
        <p:spPr>
          <a:xfrm>
            <a:off x="0" y="0"/>
            <a:ext cx="12192000" cy="678094"/>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CS526  Mid-Term</a:t>
            </a:r>
          </a:p>
        </p:txBody>
      </p:sp>
      <p:sp>
        <p:nvSpPr>
          <p:cNvPr id="6" name="Footer Placeholder 5">
            <a:extLst>
              <a:ext uri="{FF2B5EF4-FFF2-40B4-BE49-F238E27FC236}">
                <a16:creationId xmlns:a16="http://schemas.microsoft.com/office/drawing/2014/main" id="{5B12AFAF-307E-C046-A210-B750151EF6F1}"/>
              </a:ext>
            </a:extLst>
          </p:cNvPr>
          <p:cNvSpPr>
            <a:spLocks noGrp="1"/>
          </p:cNvSpPr>
          <p:nvPr>
            <p:ph type="ftr" sz="quarter" idx="11"/>
          </p:nvPr>
        </p:nvSpPr>
        <p:spPr/>
        <p:txBody>
          <a:bodyPr/>
          <a:lstStyle/>
          <a:p>
            <a:r>
              <a:rPr lang="en-US"/>
              <a:t>Boston University Metropolitan College</a:t>
            </a:r>
          </a:p>
        </p:txBody>
      </p:sp>
      <p:sp>
        <p:nvSpPr>
          <p:cNvPr id="7" name="Slide Number Placeholder 6">
            <a:extLst>
              <a:ext uri="{FF2B5EF4-FFF2-40B4-BE49-F238E27FC236}">
                <a16:creationId xmlns:a16="http://schemas.microsoft.com/office/drawing/2014/main" id="{37980371-C631-6347-9CDD-6C6B37EC7D7D}"/>
              </a:ext>
            </a:extLst>
          </p:cNvPr>
          <p:cNvSpPr>
            <a:spLocks noGrp="1"/>
          </p:cNvSpPr>
          <p:nvPr>
            <p:ph type="sldNum" sz="quarter" idx="12"/>
          </p:nvPr>
        </p:nvSpPr>
        <p:spPr/>
        <p:txBody>
          <a:bodyPr/>
          <a:lstStyle/>
          <a:p>
            <a:fld id="{F0E4876E-C529-7042-8A86-14EE2C2A0384}" type="slidenum">
              <a:rPr lang="en-US" smtClean="0"/>
              <a:t>9</a:t>
            </a:fld>
            <a:endParaRPr lang="en-US"/>
          </a:p>
        </p:txBody>
      </p:sp>
      <p:sp>
        <p:nvSpPr>
          <p:cNvPr id="20" name="Content Placeholder 2">
            <a:extLst>
              <a:ext uri="{FF2B5EF4-FFF2-40B4-BE49-F238E27FC236}">
                <a16:creationId xmlns:a16="http://schemas.microsoft.com/office/drawing/2014/main" id="{DE583E3C-EE0D-E648-90CF-E0827356DCE9}"/>
              </a:ext>
            </a:extLst>
          </p:cNvPr>
          <p:cNvSpPr>
            <a:spLocks noGrp="1"/>
          </p:cNvSpPr>
          <p:nvPr>
            <p:ph sz="half" idx="1"/>
          </p:nvPr>
        </p:nvSpPr>
        <p:spPr>
          <a:xfrm>
            <a:off x="0" y="1613043"/>
            <a:ext cx="12192000" cy="4743308"/>
          </a:xfrm>
          <a:solidFill>
            <a:schemeClr val="accent2">
              <a:lumMod val="20000"/>
              <a:lumOff val="80000"/>
            </a:schemeClr>
          </a:solidFill>
        </p:spPr>
        <p:txBody>
          <a:bodyPr>
            <a:normAutofit/>
          </a:bodyPr>
          <a:lstStyle/>
          <a:p>
            <a:pPr lvl="0"/>
            <a:r>
              <a:rPr lang="en-US" dirty="0"/>
              <a:t>Pandemic </a:t>
            </a:r>
            <a:r>
              <a:rPr lang="en-US" dirty="0" err="1"/>
              <a:t>con’t</a:t>
            </a:r>
            <a:endParaRPr lang="en-US" dirty="0"/>
          </a:p>
          <a:p>
            <a:pPr marL="457200" lvl="1" indent="0">
              <a:buNone/>
            </a:pPr>
            <a:endParaRPr lang="en-US" sz="2000" dirty="0"/>
          </a:p>
          <a:p>
            <a:pPr marL="457200" lvl="1" indent="0">
              <a:buNone/>
            </a:pPr>
            <a:r>
              <a:rPr lang="en-US" sz="2000" dirty="0"/>
              <a:t>Day 4</a:t>
            </a:r>
          </a:p>
        </p:txBody>
      </p:sp>
      <p:graphicFrame>
        <p:nvGraphicFramePr>
          <p:cNvPr id="8" name="Table 7">
            <a:extLst>
              <a:ext uri="{FF2B5EF4-FFF2-40B4-BE49-F238E27FC236}">
                <a16:creationId xmlns:a16="http://schemas.microsoft.com/office/drawing/2014/main" id="{29F93A9D-1926-1940-B723-B8E39E00395E}"/>
              </a:ext>
            </a:extLst>
          </p:cNvPr>
          <p:cNvGraphicFramePr>
            <a:graphicFrameLocks noGrp="1"/>
          </p:cNvGraphicFramePr>
          <p:nvPr>
            <p:extLst>
              <p:ext uri="{D42A27DB-BD31-4B8C-83A1-F6EECF244321}">
                <p14:modId xmlns:p14="http://schemas.microsoft.com/office/powerpoint/2010/main" val="4043438943"/>
              </p:ext>
            </p:extLst>
          </p:nvPr>
        </p:nvGraphicFramePr>
        <p:xfrm>
          <a:off x="1498600" y="3256493"/>
          <a:ext cx="8128000" cy="1854200"/>
        </p:xfrm>
        <a:graphic>
          <a:graphicData uri="http://schemas.openxmlformats.org/drawingml/2006/table">
            <a:tbl>
              <a:tblPr firstRow="1" bandRow="1">
                <a:tableStyleId>{0505E3EF-67EA-436B-97B2-0124C06EBD24}</a:tableStyleId>
              </a:tblPr>
              <a:tblGrid>
                <a:gridCol w="1625600">
                  <a:extLst>
                    <a:ext uri="{9D8B030D-6E8A-4147-A177-3AD203B41FA5}">
                      <a16:colId xmlns:a16="http://schemas.microsoft.com/office/drawing/2014/main" val="1412121274"/>
                    </a:ext>
                  </a:extLst>
                </a:gridCol>
                <a:gridCol w="1625600">
                  <a:extLst>
                    <a:ext uri="{9D8B030D-6E8A-4147-A177-3AD203B41FA5}">
                      <a16:colId xmlns:a16="http://schemas.microsoft.com/office/drawing/2014/main" val="4055706555"/>
                    </a:ext>
                  </a:extLst>
                </a:gridCol>
                <a:gridCol w="1625600">
                  <a:extLst>
                    <a:ext uri="{9D8B030D-6E8A-4147-A177-3AD203B41FA5}">
                      <a16:colId xmlns:a16="http://schemas.microsoft.com/office/drawing/2014/main" val="2302946199"/>
                    </a:ext>
                  </a:extLst>
                </a:gridCol>
                <a:gridCol w="1625600">
                  <a:extLst>
                    <a:ext uri="{9D8B030D-6E8A-4147-A177-3AD203B41FA5}">
                      <a16:colId xmlns:a16="http://schemas.microsoft.com/office/drawing/2014/main" val="41655466"/>
                    </a:ext>
                  </a:extLst>
                </a:gridCol>
                <a:gridCol w="1625600">
                  <a:extLst>
                    <a:ext uri="{9D8B030D-6E8A-4147-A177-3AD203B41FA5}">
                      <a16:colId xmlns:a16="http://schemas.microsoft.com/office/drawing/2014/main" val="3007989655"/>
                    </a:ext>
                  </a:extLst>
                </a:gridCol>
              </a:tblGrid>
              <a:tr h="370840">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11720991"/>
                  </a:ext>
                </a:extLst>
              </a:tr>
              <a:tr h="370840">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2233513341"/>
                  </a:ext>
                </a:extLst>
              </a:tr>
              <a:tr h="370840">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2392499015"/>
                  </a:ext>
                </a:extLst>
              </a:tr>
              <a:tr h="370840">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2123310108"/>
                  </a:ext>
                </a:extLst>
              </a:tr>
              <a:tr h="370840">
                <a:tc>
                  <a:txBody>
                    <a:bodyPr/>
                    <a:lstStyle/>
                    <a:p>
                      <a:pPr algn="ctr"/>
                      <a:endParaRPr lang="en-US"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7265123"/>
                  </a:ext>
                </a:extLst>
              </a:tr>
            </a:tbl>
          </a:graphicData>
        </a:graphic>
      </p:graphicFrame>
    </p:spTree>
    <p:extLst>
      <p:ext uri="{BB962C8B-B14F-4D97-AF65-F5344CB8AC3E}">
        <p14:creationId xmlns:p14="http://schemas.microsoft.com/office/powerpoint/2010/main" val="24573154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4BDEA-2B9D-B840-809F-2653FC5DF999}"/>
              </a:ext>
            </a:extLst>
          </p:cNvPr>
          <p:cNvSpPr>
            <a:spLocks noGrp="1"/>
          </p:cNvSpPr>
          <p:nvPr>
            <p:ph type="title"/>
          </p:nvPr>
        </p:nvSpPr>
        <p:spPr>
          <a:xfrm>
            <a:off x="0" y="678094"/>
            <a:ext cx="12192000" cy="934949"/>
          </a:xfrm>
          <a:solidFill>
            <a:schemeClr val="accent2">
              <a:lumMod val="20000"/>
              <a:lumOff val="80000"/>
            </a:schemeClr>
          </a:solidFill>
        </p:spPr>
        <p:txBody>
          <a:bodyPr/>
          <a:lstStyle/>
          <a:p>
            <a:r>
              <a:rPr lang="en-US" b="1" dirty="0"/>
              <a:t>Problem 2 </a:t>
            </a:r>
            <a:r>
              <a:rPr lang="en-US" b="1" dirty="0" err="1"/>
              <a:t>con’t</a:t>
            </a:r>
            <a:r>
              <a:rPr lang="en-US" b="1" dirty="0"/>
              <a:t> (25 pts)</a:t>
            </a:r>
          </a:p>
        </p:txBody>
      </p:sp>
      <p:sp>
        <p:nvSpPr>
          <p:cNvPr id="5" name="Rectangle 4">
            <a:extLst>
              <a:ext uri="{FF2B5EF4-FFF2-40B4-BE49-F238E27FC236}">
                <a16:creationId xmlns:a16="http://schemas.microsoft.com/office/drawing/2014/main" id="{958934F1-EFDA-3042-B8D1-1627EF63AA28}"/>
              </a:ext>
            </a:extLst>
          </p:cNvPr>
          <p:cNvSpPr/>
          <p:nvPr/>
        </p:nvSpPr>
        <p:spPr>
          <a:xfrm>
            <a:off x="0" y="0"/>
            <a:ext cx="12192000" cy="678094"/>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CS526  Mid-Term</a:t>
            </a:r>
          </a:p>
        </p:txBody>
      </p:sp>
      <p:sp>
        <p:nvSpPr>
          <p:cNvPr id="6" name="Footer Placeholder 5">
            <a:extLst>
              <a:ext uri="{FF2B5EF4-FFF2-40B4-BE49-F238E27FC236}">
                <a16:creationId xmlns:a16="http://schemas.microsoft.com/office/drawing/2014/main" id="{5B12AFAF-307E-C046-A210-B750151EF6F1}"/>
              </a:ext>
            </a:extLst>
          </p:cNvPr>
          <p:cNvSpPr>
            <a:spLocks noGrp="1"/>
          </p:cNvSpPr>
          <p:nvPr>
            <p:ph type="ftr" sz="quarter" idx="11"/>
          </p:nvPr>
        </p:nvSpPr>
        <p:spPr/>
        <p:txBody>
          <a:bodyPr/>
          <a:lstStyle/>
          <a:p>
            <a:r>
              <a:rPr lang="en-US"/>
              <a:t>Boston University Metropolitan College</a:t>
            </a:r>
          </a:p>
        </p:txBody>
      </p:sp>
      <p:sp>
        <p:nvSpPr>
          <p:cNvPr id="7" name="Slide Number Placeholder 6">
            <a:extLst>
              <a:ext uri="{FF2B5EF4-FFF2-40B4-BE49-F238E27FC236}">
                <a16:creationId xmlns:a16="http://schemas.microsoft.com/office/drawing/2014/main" id="{37980371-C631-6347-9CDD-6C6B37EC7D7D}"/>
              </a:ext>
            </a:extLst>
          </p:cNvPr>
          <p:cNvSpPr>
            <a:spLocks noGrp="1"/>
          </p:cNvSpPr>
          <p:nvPr>
            <p:ph type="sldNum" sz="quarter" idx="12"/>
          </p:nvPr>
        </p:nvSpPr>
        <p:spPr/>
        <p:txBody>
          <a:bodyPr/>
          <a:lstStyle/>
          <a:p>
            <a:fld id="{F0E4876E-C529-7042-8A86-14EE2C2A0384}" type="slidenum">
              <a:rPr lang="en-US" smtClean="0"/>
              <a:t>10</a:t>
            </a:fld>
            <a:endParaRPr lang="en-US"/>
          </a:p>
        </p:txBody>
      </p:sp>
      <p:sp>
        <p:nvSpPr>
          <p:cNvPr id="20" name="Content Placeholder 2">
            <a:extLst>
              <a:ext uri="{FF2B5EF4-FFF2-40B4-BE49-F238E27FC236}">
                <a16:creationId xmlns:a16="http://schemas.microsoft.com/office/drawing/2014/main" id="{DE583E3C-EE0D-E648-90CF-E0827356DCE9}"/>
              </a:ext>
            </a:extLst>
          </p:cNvPr>
          <p:cNvSpPr>
            <a:spLocks noGrp="1"/>
          </p:cNvSpPr>
          <p:nvPr>
            <p:ph sz="half" idx="1"/>
          </p:nvPr>
        </p:nvSpPr>
        <p:spPr>
          <a:xfrm>
            <a:off x="0" y="1613043"/>
            <a:ext cx="12192000" cy="4743308"/>
          </a:xfrm>
          <a:solidFill>
            <a:schemeClr val="accent2">
              <a:lumMod val="20000"/>
              <a:lumOff val="80000"/>
            </a:schemeClr>
          </a:solidFill>
        </p:spPr>
        <p:txBody>
          <a:bodyPr>
            <a:normAutofit/>
          </a:bodyPr>
          <a:lstStyle/>
          <a:p>
            <a:pPr lvl="0"/>
            <a:r>
              <a:rPr lang="en-US" dirty="0"/>
              <a:t>Pandemic </a:t>
            </a:r>
            <a:r>
              <a:rPr lang="en-US" dirty="0" err="1"/>
              <a:t>con’t</a:t>
            </a:r>
            <a:endParaRPr lang="en-US" dirty="0"/>
          </a:p>
          <a:p>
            <a:pPr marL="457200" lvl="1" indent="0">
              <a:buNone/>
            </a:pPr>
            <a:endParaRPr lang="en-US" sz="2000" dirty="0"/>
          </a:p>
          <a:p>
            <a:pPr marL="457200" lvl="1" indent="0">
              <a:buNone/>
            </a:pPr>
            <a:r>
              <a:rPr lang="en-US" sz="2000" dirty="0"/>
              <a:t>Day 5 – The infection has stopped spreading</a:t>
            </a:r>
          </a:p>
        </p:txBody>
      </p:sp>
      <p:graphicFrame>
        <p:nvGraphicFramePr>
          <p:cNvPr id="8" name="Table 7">
            <a:extLst>
              <a:ext uri="{FF2B5EF4-FFF2-40B4-BE49-F238E27FC236}">
                <a16:creationId xmlns:a16="http://schemas.microsoft.com/office/drawing/2014/main" id="{29F93A9D-1926-1940-B723-B8E39E00395E}"/>
              </a:ext>
            </a:extLst>
          </p:cNvPr>
          <p:cNvGraphicFramePr>
            <a:graphicFrameLocks noGrp="1"/>
          </p:cNvGraphicFramePr>
          <p:nvPr/>
        </p:nvGraphicFramePr>
        <p:xfrm>
          <a:off x="1498600" y="3256493"/>
          <a:ext cx="8128000" cy="1854200"/>
        </p:xfrm>
        <a:graphic>
          <a:graphicData uri="http://schemas.openxmlformats.org/drawingml/2006/table">
            <a:tbl>
              <a:tblPr firstRow="1" bandRow="1">
                <a:tableStyleId>{0505E3EF-67EA-436B-97B2-0124C06EBD24}</a:tableStyleId>
              </a:tblPr>
              <a:tblGrid>
                <a:gridCol w="1625600">
                  <a:extLst>
                    <a:ext uri="{9D8B030D-6E8A-4147-A177-3AD203B41FA5}">
                      <a16:colId xmlns:a16="http://schemas.microsoft.com/office/drawing/2014/main" val="1412121274"/>
                    </a:ext>
                  </a:extLst>
                </a:gridCol>
                <a:gridCol w="1625600">
                  <a:extLst>
                    <a:ext uri="{9D8B030D-6E8A-4147-A177-3AD203B41FA5}">
                      <a16:colId xmlns:a16="http://schemas.microsoft.com/office/drawing/2014/main" val="4055706555"/>
                    </a:ext>
                  </a:extLst>
                </a:gridCol>
                <a:gridCol w="1625600">
                  <a:extLst>
                    <a:ext uri="{9D8B030D-6E8A-4147-A177-3AD203B41FA5}">
                      <a16:colId xmlns:a16="http://schemas.microsoft.com/office/drawing/2014/main" val="2302946199"/>
                    </a:ext>
                  </a:extLst>
                </a:gridCol>
                <a:gridCol w="1625600">
                  <a:extLst>
                    <a:ext uri="{9D8B030D-6E8A-4147-A177-3AD203B41FA5}">
                      <a16:colId xmlns:a16="http://schemas.microsoft.com/office/drawing/2014/main" val="41655466"/>
                    </a:ext>
                  </a:extLst>
                </a:gridCol>
                <a:gridCol w="1625600">
                  <a:extLst>
                    <a:ext uri="{9D8B030D-6E8A-4147-A177-3AD203B41FA5}">
                      <a16:colId xmlns:a16="http://schemas.microsoft.com/office/drawing/2014/main" val="3007989655"/>
                    </a:ext>
                  </a:extLst>
                </a:gridCol>
              </a:tblGrid>
              <a:tr h="370840">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11720991"/>
                  </a:ext>
                </a:extLst>
              </a:tr>
              <a:tr h="370840">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2233513341"/>
                  </a:ext>
                </a:extLst>
              </a:tr>
              <a:tr h="370840">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2392499015"/>
                  </a:ext>
                </a:extLst>
              </a:tr>
              <a:tr h="370840">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2123310108"/>
                  </a:ext>
                </a:extLst>
              </a:tr>
              <a:tr h="370840">
                <a:tc>
                  <a:txBody>
                    <a:bodyPr/>
                    <a:lstStyle/>
                    <a:p>
                      <a:pPr algn="ctr"/>
                      <a:endParaRPr lang="en-US"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7265123"/>
                  </a:ext>
                </a:extLst>
              </a:tr>
            </a:tbl>
          </a:graphicData>
        </a:graphic>
      </p:graphicFrame>
    </p:spTree>
    <p:extLst>
      <p:ext uri="{BB962C8B-B14F-4D97-AF65-F5344CB8AC3E}">
        <p14:creationId xmlns:p14="http://schemas.microsoft.com/office/powerpoint/2010/main" val="6200034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4BDEA-2B9D-B840-809F-2653FC5DF999}"/>
              </a:ext>
            </a:extLst>
          </p:cNvPr>
          <p:cNvSpPr>
            <a:spLocks noGrp="1"/>
          </p:cNvSpPr>
          <p:nvPr>
            <p:ph type="title"/>
          </p:nvPr>
        </p:nvSpPr>
        <p:spPr>
          <a:xfrm>
            <a:off x="0" y="678094"/>
            <a:ext cx="12192000" cy="934949"/>
          </a:xfrm>
          <a:solidFill>
            <a:schemeClr val="accent2">
              <a:lumMod val="20000"/>
              <a:lumOff val="80000"/>
            </a:schemeClr>
          </a:solidFill>
        </p:spPr>
        <p:txBody>
          <a:bodyPr/>
          <a:lstStyle/>
          <a:p>
            <a:r>
              <a:rPr lang="en-US" b="1" dirty="0"/>
              <a:t>Problem 2 </a:t>
            </a:r>
            <a:r>
              <a:rPr lang="en-US" b="1" dirty="0" err="1"/>
              <a:t>con’t</a:t>
            </a:r>
            <a:r>
              <a:rPr lang="en-US" b="1" dirty="0"/>
              <a:t> (25 pts)</a:t>
            </a:r>
          </a:p>
        </p:txBody>
      </p:sp>
      <p:sp>
        <p:nvSpPr>
          <p:cNvPr id="5" name="Rectangle 4">
            <a:extLst>
              <a:ext uri="{FF2B5EF4-FFF2-40B4-BE49-F238E27FC236}">
                <a16:creationId xmlns:a16="http://schemas.microsoft.com/office/drawing/2014/main" id="{958934F1-EFDA-3042-B8D1-1627EF63AA28}"/>
              </a:ext>
            </a:extLst>
          </p:cNvPr>
          <p:cNvSpPr/>
          <p:nvPr/>
        </p:nvSpPr>
        <p:spPr>
          <a:xfrm>
            <a:off x="0" y="0"/>
            <a:ext cx="12192000" cy="678094"/>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CS526  Mid-Term</a:t>
            </a:r>
          </a:p>
        </p:txBody>
      </p:sp>
      <p:sp>
        <p:nvSpPr>
          <p:cNvPr id="6" name="Footer Placeholder 5">
            <a:extLst>
              <a:ext uri="{FF2B5EF4-FFF2-40B4-BE49-F238E27FC236}">
                <a16:creationId xmlns:a16="http://schemas.microsoft.com/office/drawing/2014/main" id="{5B12AFAF-307E-C046-A210-B750151EF6F1}"/>
              </a:ext>
            </a:extLst>
          </p:cNvPr>
          <p:cNvSpPr>
            <a:spLocks noGrp="1"/>
          </p:cNvSpPr>
          <p:nvPr>
            <p:ph type="ftr" sz="quarter" idx="11"/>
          </p:nvPr>
        </p:nvSpPr>
        <p:spPr/>
        <p:txBody>
          <a:bodyPr/>
          <a:lstStyle/>
          <a:p>
            <a:r>
              <a:rPr lang="en-US"/>
              <a:t>Boston University Metropolitan College</a:t>
            </a:r>
          </a:p>
        </p:txBody>
      </p:sp>
      <p:sp>
        <p:nvSpPr>
          <p:cNvPr id="7" name="Slide Number Placeholder 6">
            <a:extLst>
              <a:ext uri="{FF2B5EF4-FFF2-40B4-BE49-F238E27FC236}">
                <a16:creationId xmlns:a16="http://schemas.microsoft.com/office/drawing/2014/main" id="{37980371-C631-6347-9CDD-6C6B37EC7D7D}"/>
              </a:ext>
            </a:extLst>
          </p:cNvPr>
          <p:cNvSpPr>
            <a:spLocks noGrp="1"/>
          </p:cNvSpPr>
          <p:nvPr>
            <p:ph type="sldNum" sz="quarter" idx="12"/>
          </p:nvPr>
        </p:nvSpPr>
        <p:spPr/>
        <p:txBody>
          <a:bodyPr/>
          <a:lstStyle/>
          <a:p>
            <a:fld id="{F0E4876E-C529-7042-8A86-14EE2C2A0384}" type="slidenum">
              <a:rPr lang="en-US" smtClean="0"/>
              <a:t>11</a:t>
            </a:fld>
            <a:endParaRPr lang="en-US"/>
          </a:p>
        </p:txBody>
      </p:sp>
      <p:sp>
        <p:nvSpPr>
          <p:cNvPr id="20" name="Content Placeholder 2">
            <a:extLst>
              <a:ext uri="{FF2B5EF4-FFF2-40B4-BE49-F238E27FC236}">
                <a16:creationId xmlns:a16="http://schemas.microsoft.com/office/drawing/2014/main" id="{DE583E3C-EE0D-E648-90CF-E0827356DCE9}"/>
              </a:ext>
            </a:extLst>
          </p:cNvPr>
          <p:cNvSpPr>
            <a:spLocks noGrp="1"/>
          </p:cNvSpPr>
          <p:nvPr>
            <p:ph sz="half" idx="1"/>
          </p:nvPr>
        </p:nvSpPr>
        <p:spPr>
          <a:xfrm>
            <a:off x="0" y="1613043"/>
            <a:ext cx="12192000" cy="4743308"/>
          </a:xfrm>
          <a:solidFill>
            <a:schemeClr val="accent2">
              <a:lumMod val="20000"/>
              <a:lumOff val="80000"/>
            </a:schemeClr>
          </a:solidFill>
        </p:spPr>
        <p:txBody>
          <a:bodyPr>
            <a:normAutofit/>
          </a:bodyPr>
          <a:lstStyle/>
          <a:p>
            <a:pPr lvl="0"/>
            <a:r>
              <a:rPr lang="en-US" dirty="0"/>
              <a:t>Pandemic </a:t>
            </a:r>
            <a:r>
              <a:rPr lang="en-US" dirty="0" err="1"/>
              <a:t>con’t</a:t>
            </a:r>
            <a:endParaRPr lang="en-US" dirty="0"/>
          </a:p>
          <a:p>
            <a:pPr marL="457200" lvl="1" indent="0">
              <a:buNone/>
            </a:pPr>
            <a:endParaRPr lang="en-US" sz="2000" dirty="0"/>
          </a:p>
          <a:p>
            <a:pPr marL="457200" lvl="1" indent="0">
              <a:buNone/>
            </a:pPr>
            <a:r>
              <a:rPr lang="en-US" sz="2000" dirty="0"/>
              <a:t>Write an algorithm to calculate if the infection will stop spreading and there are any healthy counties left in the state. </a:t>
            </a:r>
          </a:p>
          <a:p>
            <a:pPr marL="457200" lvl="1" indent="0">
              <a:buNone/>
            </a:pPr>
            <a:r>
              <a:rPr lang="en-US" sz="2000" dirty="0"/>
              <a:t>You will be given 2 input files which have the form:</a:t>
            </a:r>
          </a:p>
          <a:p>
            <a:pPr marL="457200" lvl="1" indent="0">
              <a:buNone/>
            </a:pPr>
            <a:r>
              <a:rPr lang="en-US" sz="2000" dirty="0"/>
              <a:t>Size of matrix</a:t>
            </a:r>
          </a:p>
          <a:p>
            <a:pPr marL="457200" lvl="1" indent="0">
              <a:buNone/>
            </a:pPr>
            <a:r>
              <a:rPr lang="en-US" sz="2000" dirty="0"/>
              <a:t>List of coordinate cells of initially infected counties</a:t>
            </a:r>
          </a:p>
          <a:p>
            <a:pPr marL="457200" lvl="1" indent="0">
              <a:buNone/>
            </a:pPr>
            <a:r>
              <a:rPr lang="en-US" sz="2000" dirty="0"/>
              <a:t>e.g.</a:t>
            </a:r>
          </a:p>
          <a:p>
            <a:pPr marL="457200" lvl="1" indent="0">
              <a:buNone/>
            </a:pPr>
            <a:r>
              <a:rPr lang="en-US" sz="2000" dirty="0"/>
              <a:t>5</a:t>
            </a:r>
            <a:br>
              <a:rPr lang="en-US" sz="2000" dirty="0"/>
            </a:br>
            <a:r>
              <a:rPr lang="en-US" sz="2000" dirty="0"/>
              <a:t>1 3</a:t>
            </a:r>
            <a:br>
              <a:rPr lang="en-US" sz="2000" dirty="0"/>
            </a:br>
            <a:r>
              <a:rPr lang="en-US" sz="2000" dirty="0"/>
              <a:t>2 2</a:t>
            </a:r>
            <a:br>
              <a:rPr lang="en-US" sz="2000" dirty="0"/>
            </a:br>
            <a:r>
              <a:rPr lang="en-US" sz="2000" dirty="0"/>
              <a:t>3 4</a:t>
            </a:r>
          </a:p>
          <a:p>
            <a:pPr marL="457200" lvl="1" indent="0">
              <a:buNone/>
            </a:pPr>
            <a:r>
              <a:rPr lang="en-US" sz="2000" dirty="0"/>
              <a:t>This input means that the input matrix is 5x5 and cells (1,3), (2,2), (3,4) are initially infected</a:t>
            </a:r>
          </a:p>
        </p:txBody>
      </p:sp>
    </p:spTree>
    <p:extLst>
      <p:ext uri="{BB962C8B-B14F-4D97-AF65-F5344CB8AC3E}">
        <p14:creationId xmlns:p14="http://schemas.microsoft.com/office/powerpoint/2010/main" val="31852152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4BDEA-2B9D-B840-809F-2653FC5DF999}"/>
              </a:ext>
            </a:extLst>
          </p:cNvPr>
          <p:cNvSpPr>
            <a:spLocks noGrp="1"/>
          </p:cNvSpPr>
          <p:nvPr>
            <p:ph type="title"/>
          </p:nvPr>
        </p:nvSpPr>
        <p:spPr>
          <a:xfrm>
            <a:off x="0" y="678094"/>
            <a:ext cx="12192000" cy="934949"/>
          </a:xfrm>
          <a:solidFill>
            <a:schemeClr val="accent2">
              <a:lumMod val="20000"/>
              <a:lumOff val="80000"/>
            </a:schemeClr>
          </a:solidFill>
        </p:spPr>
        <p:txBody>
          <a:bodyPr/>
          <a:lstStyle/>
          <a:p>
            <a:r>
              <a:rPr lang="en-US" b="1" dirty="0"/>
              <a:t>Problem 2 </a:t>
            </a:r>
            <a:r>
              <a:rPr lang="en-US" b="1" dirty="0" err="1"/>
              <a:t>con’t</a:t>
            </a:r>
            <a:r>
              <a:rPr lang="en-US" b="1" dirty="0"/>
              <a:t> (25 pts)</a:t>
            </a:r>
          </a:p>
        </p:txBody>
      </p:sp>
      <p:sp>
        <p:nvSpPr>
          <p:cNvPr id="5" name="Rectangle 4">
            <a:extLst>
              <a:ext uri="{FF2B5EF4-FFF2-40B4-BE49-F238E27FC236}">
                <a16:creationId xmlns:a16="http://schemas.microsoft.com/office/drawing/2014/main" id="{958934F1-EFDA-3042-B8D1-1627EF63AA28}"/>
              </a:ext>
            </a:extLst>
          </p:cNvPr>
          <p:cNvSpPr/>
          <p:nvPr/>
        </p:nvSpPr>
        <p:spPr>
          <a:xfrm>
            <a:off x="0" y="0"/>
            <a:ext cx="12192000" cy="678094"/>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CS526  Mid-Term</a:t>
            </a:r>
          </a:p>
        </p:txBody>
      </p:sp>
      <p:sp>
        <p:nvSpPr>
          <p:cNvPr id="6" name="Footer Placeholder 5">
            <a:extLst>
              <a:ext uri="{FF2B5EF4-FFF2-40B4-BE49-F238E27FC236}">
                <a16:creationId xmlns:a16="http://schemas.microsoft.com/office/drawing/2014/main" id="{5B12AFAF-307E-C046-A210-B750151EF6F1}"/>
              </a:ext>
            </a:extLst>
          </p:cNvPr>
          <p:cNvSpPr>
            <a:spLocks noGrp="1"/>
          </p:cNvSpPr>
          <p:nvPr>
            <p:ph type="ftr" sz="quarter" idx="11"/>
          </p:nvPr>
        </p:nvSpPr>
        <p:spPr/>
        <p:txBody>
          <a:bodyPr/>
          <a:lstStyle/>
          <a:p>
            <a:r>
              <a:rPr lang="en-US"/>
              <a:t>Boston University Metropolitan College</a:t>
            </a:r>
          </a:p>
        </p:txBody>
      </p:sp>
      <p:sp>
        <p:nvSpPr>
          <p:cNvPr id="7" name="Slide Number Placeholder 6">
            <a:extLst>
              <a:ext uri="{FF2B5EF4-FFF2-40B4-BE49-F238E27FC236}">
                <a16:creationId xmlns:a16="http://schemas.microsoft.com/office/drawing/2014/main" id="{37980371-C631-6347-9CDD-6C6B37EC7D7D}"/>
              </a:ext>
            </a:extLst>
          </p:cNvPr>
          <p:cNvSpPr>
            <a:spLocks noGrp="1"/>
          </p:cNvSpPr>
          <p:nvPr>
            <p:ph type="sldNum" sz="quarter" idx="12"/>
          </p:nvPr>
        </p:nvSpPr>
        <p:spPr/>
        <p:txBody>
          <a:bodyPr/>
          <a:lstStyle/>
          <a:p>
            <a:fld id="{F0E4876E-C529-7042-8A86-14EE2C2A0384}" type="slidenum">
              <a:rPr lang="en-US" smtClean="0"/>
              <a:t>12</a:t>
            </a:fld>
            <a:endParaRPr lang="en-US"/>
          </a:p>
        </p:txBody>
      </p:sp>
      <p:sp>
        <p:nvSpPr>
          <p:cNvPr id="20" name="Content Placeholder 2">
            <a:extLst>
              <a:ext uri="{FF2B5EF4-FFF2-40B4-BE49-F238E27FC236}">
                <a16:creationId xmlns:a16="http://schemas.microsoft.com/office/drawing/2014/main" id="{DE583E3C-EE0D-E648-90CF-E0827356DCE9}"/>
              </a:ext>
            </a:extLst>
          </p:cNvPr>
          <p:cNvSpPr>
            <a:spLocks noGrp="1"/>
          </p:cNvSpPr>
          <p:nvPr>
            <p:ph sz="half" idx="1"/>
          </p:nvPr>
        </p:nvSpPr>
        <p:spPr>
          <a:xfrm>
            <a:off x="0" y="1613043"/>
            <a:ext cx="12192000" cy="4743308"/>
          </a:xfrm>
          <a:solidFill>
            <a:schemeClr val="accent2">
              <a:lumMod val="20000"/>
              <a:lumOff val="80000"/>
            </a:schemeClr>
          </a:solidFill>
        </p:spPr>
        <p:txBody>
          <a:bodyPr>
            <a:normAutofit/>
          </a:bodyPr>
          <a:lstStyle/>
          <a:p>
            <a:pPr lvl="0"/>
            <a:r>
              <a:rPr lang="en-US" dirty="0"/>
              <a:t>Pandemic </a:t>
            </a:r>
            <a:r>
              <a:rPr lang="en-US" dirty="0" err="1"/>
              <a:t>con’t</a:t>
            </a:r>
            <a:endParaRPr lang="en-US" sz="2400" dirty="0"/>
          </a:p>
          <a:p>
            <a:pPr lvl="0"/>
            <a:endParaRPr lang="en-US" sz="2000" dirty="0"/>
          </a:p>
          <a:p>
            <a:pPr lvl="1"/>
            <a:r>
              <a:rPr lang="en-US" sz="2000" dirty="0"/>
              <a:t>Describe the heart of your algorithm</a:t>
            </a:r>
          </a:p>
          <a:p>
            <a:pPr lvl="1"/>
            <a:r>
              <a:rPr lang="en-US" sz="2000" dirty="0"/>
              <a:t>Write a program that takes as input a file and returns to the console “</a:t>
            </a:r>
            <a:r>
              <a:rPr lang="en-US" sz="2000" b="1" dirty="0"/>
              <a:t>There &lt;</a:t>
            </a:r>
            <a:r>
              <a:rPr lang="en-US" sz="2000" b="1" dirty="0" err="1"/>
              <a:t>are|are</a:t>
            </a:r>
            <a:r>
              <a:rPr lang="en-US" sz="2000" b="1" dirty="0"/>
              <a:t> no&gt; healthy counties lef</a:t>
            </a:r>
            <a:r>
              <a:rPr lang="en-US" sz="2000" dirty="0"/>
              <a:t>t”</a:t>
            </a:r>
          </a:p>
          <a:p>
            <a:pPr lvl="1"/>
            <a:r>
              <a:rPr lang="en-US" sz="2000" dirty="0"/>
              <a:t>Provide a </a:t>
            </a:r>
            <a:r>
              <a:rPr lang="en-US" sz="2000" dirty="0" err="1"/>
              <a:t>readme.txt</a:t>
            </a:r>
            <a:r>
              <a:rPr lang="en-US" sz="2000" dirty="0"/>
              <a:t> which explains how to run your code in a terminal window.</a:t>
            </a:r>
          </a:p>
          <a:p>
            <a:pPr lvl="1"/>
            <a:endParaRPr lang="en-US" sz="2000" dirty="0"/>
          </a:p>
          <a:p>
            <a:pPr marL="457200" lvl="1" indent="0">
              <a:buNone/>
            </a:pPr>
            <a:r>
              <a:rPr lang="en-US" sz="2000" dirty="0"/>
              <a:t>Note: there are two sample inputs:</a:t>
            </a:r>
          </a:p>
          <a:p>
            <a:pPr marL="457200" lvl="1" indent="0">
              <a:buNone/>
            </a:pPr>
            <a:r>
              <a:rPr lang="en-US" sz="2000" dirty="0"/>
              <a:t>		pandemic_input1.txt -&gt; There are healthy counties left</a:t>
            </a:r>
          </a:p>
          <a:p>
            <a:pPr marL="457200" lvl="1" indent="0">
              <a:buNone/>
            </a:pPr>
            <a:r>
              <a:rPr lang="en-US" sz="2000" dirty="0"/>
              <a:t>		pandemic_input2.txt -&gt; There are no healthy counties left</a:t>
            </a:r>
          </a:p>
        </p:txBody>
      </p:sp>
    </p:spTree>
    <p:extLst>
      <p:ext uri="{BB962C8B-B14F-4D97-AF65-F5344CB8AC3E}">
        <p14:creationId xmlns:p14="http://schemas.microsoft.com/office/powerpoint/2010/main" val="32869542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4BDEA-2B9D-B840-809F-2653FC5DF999}"/>
              </a:ext>
            </a:extLst>
          </p:cNvPr>
          <p:cNvSpPr>
            <a:spLocks noGrp="1"/>
          </p:cNvSpPr>
          <p:nvPr>
            <p:ph type="title"/>
          </p:nvPr>
        </p:nvSpPr>
        <p:spPr>
          <a:xfrm>
            <a:off x="0" y="678094"/>
            <a:ext cx="12192000" cy="934949"/>
          </a:xfrm>
          <a:solidFill>
            <a:schemeClr val="accent2">
              <a:lumMod val="20000"/>
              <a:lumOff val="80000"/>
            </a:schemeClr>
          </a:solidFill>
        </p:spPr>
        <p:txBody>
          <a:bodyPr/>
          <a:lstStyle/>
          <a:p>
            <a:r>
              <a:rPr lang="en-US" b="1" dirty="0"/>
              <a:t>Problem 3 (25 pts)</a:t>
            </a:r>
          </a:p>
        </p:txBody>
      </p:sp>
      <p:sp>
        <p:nvSpPr>
          <p:cNvPr id="5" name="Rectangle 4">
            <a:extLst>
              <a:ext uri="{FF2B5EF4-FFF2-40B4-BE49-F238E27FC236}">
                <a16:creationId xmlns:a16="http://schemas.microsoft.com/office/drawing/2014/main" id="{958934F1-EFDA-3042-B8D1-1627EF63AA28}"/>
              </a:ext>
            </a:extLst>
          </p:cNvPr>
          <p:cNvSpPr/>
          <p:nvPr/>
        </p:nvSpPr>
        <p:spPr>
          <a:xfrm>
            <a:off x="0" y="0"/>
            <a:ext cx="12192000" cy="678094"/>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CS526  Mid-Term</a:t>
            </a:r>
          </a:p>
        </p:txBody>
      </p:sp>
      <p:sp>
        <p:nvSpPr>
          <p:cNvPr id="6" name="Footer Placeholder 5">
            <a:extLst>
              <a:ext uri="{FF2B5EF4-FFF2-40B4-BE49-F238E27FC236}">
                <a16:creationId xmlns:a16="http://schemas.microsoft.com/office/drawing/2014/main" id="{5B12AFAF-307E-C046-A210-B750151EF6F1}"/>
              </a:ext>
            </a:extLst>
          </p:cNvPr>
          <p:cNvSpPr>
            <a:spLocks noGrp="1"/>
          </p:cNvSpPr>
          <p:nvPr>
            <p:ph type="ftr" sz="quarter" idx="11"/>
          </p:nvPr>
        </p:nvSpPr>
        <p:spPr/>
        <p:txBody>
          <a:bodyPr/>
          <a:lstStyle/>
          <a:p>
            <a:r>
              <a:rPr lang="en-US"/>
              <a:t>Boston University Metropolitan College</a:t>
            </a:r>
          </a:p>
        </p:txBody>
      </p:sp>
      <p:sp>
        <p:nvSpPr>
          <p:cNvPr id="7" name="Slide Number Placeholder 6">
            <a:extLst>
              <a:ext uri="{FF2B5EF4-FFF2-40B4-BE49-F238E27FC236}">
                <a16:creationId xmlns:a16="http://schemas.microsoft.com/office/drawing/2014/main" id="{37980371-C631-6347-9CDD-6C6B37EC7D7D}"/>
              </a:ext>
            </a:extLst>
          </p:cNvPr>
          <p:cNvSpPr>
            <a:spLocks noGrp="1"/>
          </p:cNvSpPr>
          <p:nvPr>
            <p:ph type="sldNum" sz="quarter" idx="12"/>
          </p:nvPr>
        </p:nvSpPr>
        <p:spPr/>
        <p:txBody>
          <a:bodyPr/>
          <a:lstStyle/>
          <a:p>
            <a:fld id="{F0E4876E-C529-7042-8A86-14EE2C2A0384}" type="slidenum">
              <a:rPr lang="en-US" smtClean="0"/>
              <a:t>13</a:t>
            </a:fld>
            <a:endParaRPr lang="en-US"/>
          </a:p>
        </p:txBody>
      </p:sp>
      <p:sp>
        <p:nvSpPr>
          <p:cNvPr id="20" name="Content Placeholder 2">
            <a:extLst>
              <a:ext uri="{FF2B5EF4-FFF2-40B4-BE49-F238E27FC236}">
                <a16:creationId xmlns:a16="http://schemas.microsoft.com/office/drawing/2014/main" id="{DE583E3C-EE0D-E648-90CF-E0827356DCE9}"/>
              </a:ext>
            </a:extLst>
          </p:cNvPr>
          <p:cNvSpPr>
            <a:spLocks noGrp="1"/>
          </p:cNvSpPr>
          <p:nvPr>
            <p:ph sz="half" idx="1"/>
          </p:nvPr>
        </p:nvSpPr>
        <p:spPr>
          <a:xfrm>
            <a:off x="0" y="1411364"/>
            <a:ext cx="12192000" cy="4743308"/>
          </a:xfrm>
          <a:solidFill>
            <a:schemeClr val="accent2">
              <a:lumMod val="20000"/>
              <a:lumOff val="80000"/>
            </a:schemeClr>
          </a:solidFill>
        </p:spPr>
        <p:txBody>
          <a:bodyPr>
            <a:normAutofit/>
          </a:bodyPr>
          <a:lstStyle/>
          <a:p>
            <a:pPr lvl="0"/>
            <a:r>
              <a:rPr lang="en-US" dirty="0"/>
              <a:t>Shopping Cart</a:t>
            </a:r>
            <a:endParaRPr lang="en-US" sz="1400" dirty="0"/>
          </a:p>
          <a:p>
            <a:pPr marL="457200" lvl="1" indent="0">
              <a:buNone/>
            </a:pPr>
            <a:r>
              <a:rPr lang="en-US" sz="1600" dirty="0"/>
              <a:t>You are going shopping at your local store. The aisles are organized such that each aisle contains a specific category of item. The aisles are arranged from left to right. The aisles are represented by an array of categories e.g.</a:t>
            </a:r>
          </a:p>
          <a:p>
            <a:pPr marL="457200" lvl="1" indent="0">
              <a:buNone/>
            </a:pPr>
            <a:endParaRPr lang="en-US" sz="1600" dirty="0"/>
          </a:p>
          <a:p>
            <a:pPr marL="457200" lvl="1" indent="0">
              <a:buNone/>
            </a:pPr>
            <a:r>
              <a:rPr lang="en-US" sz="1600" dirty="0"/>
              <a:t>	[‘dinner’, ‘lunch’, ‘breakfast’, ‘snacks’, ‘desserts’]</a:t>
            </a:r>
          </a:p>
          <a:p>
            <a:pPr marL="457200" lvl="1" indent="0">
              <a:buNone/>
            </a:pPr>
            <a:endParaRPr lang="en-US" sz="1600" dirty="0"/>
          </a:p>
          <a:p>
            <a:pPr marL="457200" lvl="1" indent="0">
              <a:buNone/>
            </a:pPr>
            <a:r>
              <a:rPr lang="en-US" sz="1600" dirty="0"/>
              <a:t>You want to collect as many items as you can moving through the aisles from left to right. The store owner has some very strict rules for the shoppers:</a:t>
            </a:r>
          </a:p>
          <a:p>
            <a:pPr lvl="2"/>
            <a:r>
              <a:rPr lang="en-US" sz="1600" dirty="0"/>
              <a:t>You have only 2 baskets to place your items in and each basket can hold only a single category of item.</a:t>
            </a:r>
          </a:p>
          <a:p>
            <a:pPr lvl="2"/>
            <a:r>
              <a:rPr lang="en-US" sz="1600" dirty="0"/>
              <a:t>Starting from the aisle of your choice, you must select exactly one item from the aisle and place it in one of your baskets, remember that you have only 2 baskets and each basket can contain only one category of item.</a:t>
            </a:r>
          </a:p>
          <a:p>
            <a:pPr lvl="2"/>
            <a:r>
              <a:rPr lang="en-US" sz="1600" dirty="0"/>
              <a:t>Once you reach an aisle that contains an item you are not allowed to put into either of your baskets you must stop shopping.</a:t>
            </a:r>
          </a:p>
          <a:p>
            <a:pPr marL="457200" lvl="1" indent="0">
              <a:buNone/>
            </a:pPr>
            <a:endParaRPr lang="en-US" sz="1600" dirty="0"/>
          </a:p>
          <a:p>
            <a:pPr marL="457200" lvl="1" indent="0">
              <a:buNone/>
            </a:pPr>
            <a:endParaRPr lang="en-US" sz="1400" dirty="0"/>
          </a:p>
          <a:p>
            <a:pPr lvl="2"/>
            <a:endParaRPr lang="en-US" sz="1400" dirty="0"/>
          </a:p>
          <a:p>
            <a:pPr marL="457200" lvl="1" indent="0">
              <a:buNone/>
            </a:pPr>
            <a:endParaRPr lang="en-US" sz="1400" dirty="0"/>
          </a:p>
          <a:p>
            <a:pPr marL="457200" lvl="1" indent="0">
              <a:buNone/>
            </a:pPr>
            <a:endParaRPr lang="en-US" sz="1400" dirty="0"/>
          </a:p>
          <a:p>
            <a:pPr marL="457200" lvl="1" indent="0">
              <a:buNone/>
            </a:pPr>
            <a:endParaRPr lang="en-US" dirty="0"/>
          </a:p>
        </p:txBody>
      </p:sp>
    </p:spTree>
    <p:extLst>
      <p:ext uri="{BB962C8B-B14F-4D97-AF65-F5344CB8AC3E}">
        <p14:creationId xmlns:p14="http://schemas.microsoft.com/office/powerpoint/2010/main" val="24661321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4BDEA-2B9D-B840-809F-2653FC5DF999}"/>
              </a:ext>
            </a:extLst>
          </p:cNvPr>
          <p:cNvSpPr>
            <a:spLocks noGrp="1"/>
          </p:cNvSpPr>
          <p:nvPr>
            <p:ph type="title"/>
          </p:nvPr>
        </p:nvSpPr>
        <p:spPr>
          <a:xfrm>
            <a:off x="0" y="678094"/>
            <a:ext cx="12192000" cy="934949"/>
          </a:xfrm>
          <a:solidFill>
            <a:schemeClr val="accent2">
              <a:lumMod val="20000"/>
              <a:lumOff val="80000"/>
            </a:schemeClr>
          </a:solidFill>
        </p:spPr>
        <p:txBody>
          <a:bodyPr/>
          <a:lstStyle/>
          <a:p>
            <a:r>
              <a:rPr lang="en-US" b="1" dirty="0"/>
              <a:t>Problem 3 (25 pts)</a:t>
            </a:r>
          </a:p>
        </p:txBody>
      </p:sp>
      <p:sp>
        <p:nvSpPr>
          <p:cNvPr id="5" name="Rectangle 4">
            <a:extLst>
              <a:ext uri="{FF2B5EF4-FFF2-40B4-BE49-F238E27FC236}">
                <a16:creationId xmlns:a16="http://schemas.microsoft.com/office/drawing/2014/main" id="{958934F1-EFDA-3042-B8D1-1627EF63AA28}"/>
              </a:ext>
            </a:extLst>
          </p:cNvPr>
          <p:cNvSpPr/>
          <p:nvPr/>
        </p:nvSpPr>
        <p:spPr>
          <a:xfrm>
            <a:off x="0" y="0"/>
            <a:ext cx="12192000" cy="678094"/>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CS526  Mid-Term</a:t>
            </a:r>
          </a:p>
        </p:txBody>
      </p:sp>
      <p:sp>
        <p:nvSpPr>
          <p:cNvPr id="6" name="Footer Placeholder 5">
            <a:extLst>
              <a:ext uri="{FF2B5EF4-FFF2-40B4-BE49-F238E27FC236}">
                <a16:creationId xmlns:a16="http://schemas.microsoft.com/office/drawing/2014/main" id="{5B12AFAF-307E-C046-A210-B750151EF6F1}"/>
              </a:ext>
            </a:extLst>
          </p:cNvPr>
          <p:cNvSpPr>
            <a:spLocks noGrp="1"/>
          </p:cNvSpPr>
          <p:nvPr>
            <p:ph type="ftr" sz="quarter" idx="11"/>
          </p:nvPr>
        </p:nvSpPr>
        <p:spPr/>
        <p:txBody>
          <a:bodyPr/>
          <a:lstStyle/>
          <a:p>
            <a:r>
              <a:rPr lang="en-US"/>
              <a:t>Boston University Metropolitan College</a:t>
            </a:r>
          </a:p>
        </p:txBody>
      </p:sp>
      <p:sp>
        <p:nvSpPr>
          <p:cNvPr id="7" name="Slide Number Placeholder 6">
            <a:extLst>
              <a:ext uri="{FF2B5EF4-FFF2-40B4-BE49-F238E27FC236}">
                <a16:creationId xmlns:a16="http://schemas.microsoft.com/office/drawing/2014/main" id="{37980371-C631-6347-9CDD-6C6B37EC7D7D}"/>
              </a:ext>
            </a:extLst>
          </p:cNvPr>
          <p:cNvSpPr>
            <a:spLocks noGrp="1"/>
          </p:cNvSpPr>
          <p:nvPr>
            <p:ph type="sldNum" sz="quarter" idx="12"/>
          </p:nvPr>
        </p:nvSpPr>
        <p:spPr/>
        <p:txBody>
          <a:bodyPr/>
          <a:lstStyle/>
          <a:p>
            <a:fld id="{F0E4876E-C529-7042-8A86-14EE2C2A0384}" type="slidenum">
              <a:rPr lang="en-US" smtClean="0"/>
              <a:t>14</a:t>
            </a:fld>
            <a:endParaRPr lang="en-US"/>
          </a:p>
        </p:txBody>
      </p:sp>
      <p:sp>
        <p:nvSpPr>
          <p:cNvPr id="20" name="Content Placeholder 2">
            <a:extLst>
              <a:ext uri="{FF2B5EF4-FFF2-40B4-BE49-F238E27FC236}">
                <a16:creationId xmlns:a16="http://schemas.microsoft.com/office/drawing/2014/main" id="{DE583E3C-EE0D-E648-90CF-E0827356DCE9}"/>
              </a:ext>
            </a:extLst>
          </p:cNvPr>
          <p:cNvSpPr>
            <a:spLocks noGrp="1"/>
          </p:cNvSpPr>
          <p:nvPr>
            <p:ph sz="half" idx="1"/>
          </p:nvPr>
        </p:nvSpPr>
        <p:spPr>
          <a:xfrm>
            <a:off x="0" y="1411364"/>
            <a:ext cx="12192000" cy="4743308"/>
          </a:xfrm>
          <a:solidFill>
            <a:schemeClr val="accent2">
              <a:lumMod val="20000"/>
              <a:lumOff val="80000"/>
            </a:schemeClr>
          </a:solidFill>
        </p:spPr>
        <p:txBody>
          <a:bodyPr>
            <a:normAutofit/>
          </a:bodyPr>
          <a:lstStyle/>
          <a:p>
            <a:pPr lvl="0"/>
            <a:r>
              <a:rPr lang="en-US" dirty="0"/>
              <a:t>Shopping Cart</a:t>
            </a:r>
            <a:endParaRPr lang="en-US" sz="1400" dirty="0"/>
          </a:p>
          <a:p>
            <a:pPr marL="457200" lvl="1" indent="0">
              <a:buNone/>
            </a:pPr>
            <a:r>
              <a:rPr lang="en-US" sz="1600" dirty="0"/>
              <a:t>You will be given input files with the first line containing the number of aisles and line two containing a comma separated list of categories</a:t>
            </a:r>
          </a:p>
          <a:p>
            <a:pPr marL="457200" lvl="1" indent="0">
              <a:buNone/>
            </a:pPr>
            <a:endParaRPr lang="en-US" sz="1600" dirty="0"/>
          </a:p>
          <a:p>
            <a:pPr marL="457200" lvl="1" indent="0">
              <a:buNone/>
            </a:pPr>
            <a:r>
              <a:rPr lang="en-US" sz="1600" dirty="0"/>
              <a:t>e.g. file 1:</a:t>
            </a:r>
          </a:p>
          <a:p>
            <a:pPr marL="457200" lvl="1" indent="0">
              <a:buNone/>
            </a:pPr>
            <a:r>
              <a:rPr lang="en-US" sz="1600" dirty="0"/>
              <a:t>3</a:t>
            </a:r>
          </a:p>
          <a:p>
            <a:pPr marL="457200" lvl="1" indent="0">
              <a:buNone/>
            </a:pPr>
            <a:r>
              <a:rPr lang="en-US" sz="1600" dirty="0" err="1"/>
              <a:t>dinner,lunch,dinner</a:t>
            </a:r>
            <a:endParaRPr lang="en-US" sz="1600" dirty="0"/>
          </a:p>
          <a:p>
            <a:pPr marL="457200" lvl="1" indent="0">
              <a:buNone/>
            </a:pPr>
            <a:endParaRPr lang="en-US" sz="1600" dirty="0"/>
          </a:p>
          <a:p>
            <a:pPr marL="457200" lvl="1" indent="0">
              <a:buNone/>
            </a:pPr>
            <a:endParaRPr lang="en-US" sz="1600" dirty="0"/>
          </a:p>
          <a:p>
            <a:pPr marL="457200" lvl="1" indent="0">
              <a:buNone/>
            </a:pPr>
            <a:r>
              <a:rPr lang="en-US" sz="1600" dirty="0"/>
              <a:t>e.g. file 2:</a:t>
            </a:r>
          </a:p>
          <a:p>
            <a:pPr marL="457200" lvl="1" indent="0">
              <a:buNone/>
            </a:pPr>
            <a:r>
              <a:rPr lang="en-US" sz="1600" dirty="0"/>
              <a:t>5</a:t>
            </a:r>
          </a:p>
          <a:p>
            <a:pPr marL="457200" lvl="1" indent="0">
              <a:buNone/>
            </a:pPr>
            <a:r>
              <a:rPr lang="en-US" sz="1600" dirty="0" err="1"/>
              <a:t>dinner,lunch,breakfast,lunch,lunch</a:t>
            </a:r>
            <a:endParaRPr lang="en-US" sz="1600" dirty="0"/>
          </a:p>
          <a:p>
            <a:pPr marL="914400" lvl="2" indent="0">
              <a:buNone/>
            </a:pPr>
            <a:endParaRPr lang="en-US" sz="1400" dirty="0"/>
          </a:p>
          <a:p>
            <a:pPr marL="457200" lvl="1" indent="0">
              <a:buNone/>
            </a:pPr>
            <a:r>
              <a:rPr lang="en-US" sz="1800" dirty="0"/>
              <a:t>Write an algorithm which will return the maximum number of items you can select from the given aisle category input as “&lt;items&gt; items were selected”.</a:t>
            </a:r>
          </a:p>
          <a:p>
            <a:pPr marL="457200" lvl="1" indent="0">
              <a:buNone/>
            </a:pPr>
            <a:r>
              <a:rPr lang="en-US" sz="1800" dirty="0"/>
              <a:t>e.g. Input: [‘dinner’, ‘lunch’, ‘dinner’] -&gt; 3 items were selected</a:t>
            </a:r>
          </a:p>
          <a:p>
            <a:pPr marL="457200" lvl="1" indent="0">
              <a:buNone/>
            </a:pPr>
            <a:r>
              <a:rPr lang="en-US" sz="1800" dirty="0"/>
              <a:t>e.g. Input: [‘dinner’, ‘lunch’, ‘breakfast’, ‘lunch’, ‘lunch’] -&gt; 4 items were selected</a:t>
            </a:r>
          </a:p>
          <a:p>
            <a:pPr marL="457200" lvl="1" indent="0">
              <a:buNone/>
            </a:pPr>
            <a:endParaRPr lang="en-US" sz="1800" dirty="0"/>
          </a:p>
          <a:p>
            <a:pPr marL="457200" lvl="1" indent="0">
              <a:buNone/>
            </a:pPr>
            <a:endParaRPr lang="en-US" sz="1800" dirty="0"/>
          </a:p>
          <a:p>
            <a:pPr marL="457200" lvl="1" indent="0">
              <a:buNone/>
            </a:pPr>
            <a:endParaRPr lang="en-US" sz="1400" dirty="0"/>
          </a:p>
          <a:p>
            <a:pPr marL="457200" lvl="1" indent="0">
              <a:buNone/>
            </a:pPr>
            <a:endParaRPr lang="en-US" sz="1400" dirty="0"/>
          </a:p>
          <a:p>
            <a:pPr marL="457200" lvl="1" indent="0">
              <a:buNone/>
            </a:pPr>
            <a:endParaRPr lang="en-US" dirty="0"/>
          </a:p>
        </p:txBody>
      </p:sp>
    </p:spTree>
    <p:extLst>
      <p:ext uri="{BB962C8B-B14F-4D97-AF65-F5344CB8AC3E}">
        <p14:creationId xmlns:p14="http://schemas.microsoft.com/office/powerpoint/2010/main" val="33510259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4BDEA-2B9D-B840-809F-2653FC5DF999}"/>
              </a:ext>
            </a:extLst>
          </p:cNvPr>
          <p:cNvSpPr>
            <a:spLocks noGrp="1"/>
          </p:cNvSpPr>
          <p:nvPr>
            <p:ph type="title"/>
          </p:nvPr>
        </p:nvSpPr>
        <p:spPr>
          <a:xfrm>
            <a:off x="0" y="678094"/>
            <a:ext cx="12192000" cy="934949"/>
          </a:xfrm>
          <a:solidFill>
            <a:schemeClr val="accent2">
              <a:lumMod val="20000"/>
              <a:lumOff val="80000"/>
            </a:schemeClr>
          </a:solidFill>
        </p:spPr>
        <p:txBody>
          <a:bodyPr/>
          <a:lstStyle/>
          <a:p>
            <a:r>
              <a:rPr lang="en-US" b="1" dirty="0"/>
              <a:t>Problem 3 </a:t>
            </a:r>
            <a:r>
              <a:rPr lang="en-US" b="1" dirty="0" err="1"/>
              <a:t>con’t</a:t>
            </a:r>
            <a:r>
              <a:rPr lang="en-US" b="1" dirty="0"/>
              <a:t> (25 pts)</a:t>
            </a:r>
          </a:p>
        </p:txBody>
      </p:sp>
      <p:sp>
        <p:nvSpPr>
          <p:cNvPr id="5" name="Rectangle 4">
            <a:extLst>
              <a:ext uri="{FF2B5EF4-FFF2-40B4-BE49-F238E27FC236}">
                <a16:creationId xmlns:a16="http://schemas.microsoft.com/office/drawing/2014/main" id="{958934F1-EFDA-3042-B8D1-1627EF63AA28}"/>
              </a:ext>
            </a:extLst>
          </p:cNvPr>
          <p:cNvSpPr/>
          <p:nvPr/>
        </p:nvSpPr>
        <p:spPr>
          <a:xfrm>
            <a:off x="0" y="0"/>
            <a:ext cx="12192000" cy="678094"/>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CS526  Mid-Term</a:t>
            </a:r>
          </a:p>
        </p:txBody>
      </p:sp>
      <p:sp>
        <p:nvSpPr>
          <p:cNvPr id="6" name="Footer Placeholder 5">
            <a:extLst>
              <a:ext uri="{FF2B5EF4-FFF2-40B4-BE49-F238E27FC236}">
                <a16:creationId xmlns:a16="http://schemas.microsoft.com/office/drawing/2014/main" id="{5B12AFAF-307E-C046-A210-B750151EF6F1}"/>
              </a:ext>
            </a:extLst>
          </p:cNvPr>
          <p:cNvSpPr>
            <a:spLocks noGrp="1"/>
          </p:cNvSpPr>
          <p:nvPr>
            <p:ph type="ftr" sz="quarter" idx="11"/>
          </p:nvPr>
        </p:nvSpPr>
        <p:spPr/>
        <p:txBody>
          <a:bodyPr/>
          <a:lstStyle/>
          <a:p>
            <a:r>
              <a:rPr lang="en-US"/>
              <a:t>Boston University Metropolitan College</a:t>
            </a:r>
          </a:p>
        </p:txBody>
      </p:sp>
      <p:sp>
        <p:nvSpPr>
          <p:cNvPr id="7" name="Slide Number Placeholder 6">
            <a:extLst>
              <a:ext uri="{FF2B5EF4-FFF2-40B4-BE49-F238E27FC236}">
                <a16:creationId xmlns:a16="http://schemas.microsoft.com/office/drawing/2014/main" id="{37980371-C631-6347-9CDD-6C6B37EC7D7D}"/>
              </a:ext>
            </a:extLst>
          </p:cNvPr>
          <p:cNvSpPr>
            <a:spLocks noGrp="1"/>
          </p:cNvSpPr>
          <p:nvPr>
            <p:ph type="sldNum" sz="quarter" idx="12"/>
          </p:nvPr>
        </p:nvSpPr>
        <p:spPr/>
        <p:txBody>
          <a:bodyPr/>
          <a:lstStyle/>
          <a:p>
            <a:fld id="{F0E4876E-C529-7042-8A86-14EE2C2A0384}" type="slidenum">
              <a:rPr lang="en-US" smtClean="0"/>
              <a:t>15</a:t>
            </a:fld>
            <a:endParaRPr lang="en-US"/>
          </a:p>
        </p:txBody>
      </p:sp>
      <p:sp>
        <p:nvSpPr>
          <p:cNvPr id="20" name="Content Placeholder 2">
            <a:extLst>
              <a:ext uri="{FF2B5EF4-FFF2-40B4-BE49-F238E27FC236}">
                <a16:creationId xmlns:a16="http://schemas.microsoft.com/office/drawing/2014/main" id="{DE583E3C-EE0D-E648-90CF-E0827356DCE9}"/>
              </a:ext>
            </a:extLst>
          </p:cNvPr>
          <p:cNvSpPr>
            <a:spLocks noGrp="1"/>
          </p:cNvSpPr>
          <p:nvPr>
            <p:ph sz="half" idx="1"/>
          </p:nvPr>
        </p:nvSpPr>
        <p:spPr>
          <a:xfrm>
            <a:off x="0" y="1613043"/>
            <a:ext cx="12192000" cy="4743308"/>
          </a:xfrm>
          <a:solidFill>
            <a:schemeClr val="accent2">
              <a:lumMod val="20000"/>
              <a:lumOff val="80000"/>
            </a:schemeClr>
          </a:solidFill>
        </p:spPr>
        <p:txBody>
          <a:bodyPr>
            <a:normAutofit/>
          </a:bodyPr>
          <a:lstStyle/>
          <a:p>
            <a:pPr lvl="0"/>
            <a:r>
              <a:rPr lang="en-US" sz="2400" dirty="0"/>
              <a:t>Shopping Cart </a:t>
            </a:r>
            <a:r>
              <a:rPr lang="en-US" sz="2400" dirty="0" err="1"/>
              <a:t>Con’t</a:t>
            </a:r>
            <a:endParaRPr lang="en-US" sz="2400" dirty="0"/>
          </a:p>
          <a:p>
            <a:pPr lvl="0"/>
            <a:endParaRPr lang="en-US" sz="2000" dirty="0"/>
          </a:p>
          <a:p>
            <a:pPr lvl="1"/>
            <a:r>
              <a:rPr lang="en-US" sz="2000" dirty="0"/>
              <a:t>Describe the heart of your algorithm and explain your code in a </a:t>
            </a:r>
            <a:r>
              <a:rPr lang="en-US" sz="2000" dirty="0" err="1"/>
              <a:t>readme.txt</a:t>
            </a:r>
            <a:r>
              <a:rPr lang="en-US" sz="2000" dirty="0"/>
              <a:t> file</a:t>
            </a:r>
          </a:p>
          <a:p>
            <a:pPr lvl="1"/>
            <a:r>
              <a:rPr lang="en-US" sz="2000" dirty="0"/>
              <a:t>Write a program that takes as input a file and returns to the console </a:t>
            </a:r>
            <a:r>
              <a:rPr lang="en-US" sz="2000" b="1" dirty="0"/>
              <a:t>“&lt;# of items&gt; items were selected”</a:t>
            </a:r>
          </a:p>
          <a:p>
            <a:pPr lvl="1"/>
            <a:r>
              <a:rPr lang="en-US" sz="2000" dirty="0"/>
              <a:t>Provide a </a:t>
            </a:r>
            <a:r>
              <a:rPr lang="en-US" sz="2000" dirty="0" err="1"/>
              <a:t>readme.txt</a:t>
            </a:r>
            <a:r>
              <a:rPr lang="en-US" sz="2000" dirty="0"/>
              <a:t> which explains how to run your code in a terminal window.</a:t>
            </a:r>
          </a:p>
          <a:p>
            <a:pPr lvl="1"/>
            <a:endParaRPr lang="en-US" sz="2000" dirty="0"/>
          </a:p>
        </p:txBody>
      </p:sp>
    </p:spTree>
    <p:extLst>
      <p:ext uri="{BB962C8B-B14F-4D97-AF65-F5344CB8AC3E}">
        <p14:creationId xmlns:p14="http://schemas.microsoft.com/office/powerpoint/2010/main" val="42333244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4BDEA-2B9D-B840-809F-2653FC5DF999}"/>
              </a:ext>
            </a:extLst>
          </p:cNvPr>
          <p:cNvSpPr>
            <a:spLocks noGrp="1"/>
          </p:cNvSpPr>
          <p:nvPr>
            <p:ph type="title"/>
          </p:nvPr>
        </p:nvSpPr>
        <p:spPr>
          <a:xfrm>
            <a:off x="0" y="678094"/>
            <a:ext cx="12192000" cy="934949"/>
          </a:xfrm>
          <a:solidFill>
            <a:schemeClr val="accent2">
              <a:lumMod val="20000"/>
              <a:lumOff val="80000"/>
            </a:schemeClr>
          </a:solidFill>
        </p:spPr>
        <p:txBody>
          <a:bodyPr/>
          <a:lstStyle/>
          <a:p>
            <a:r>
              <a:rPr lang="en-US" b="1" dirty="0"/>
              <a:t>Problem 4 (25 pts)</a:t>
            </a:r>
          </a:p>
        </p:txBody>
      </p:sp>
      <p:sp>
        <p:nvSpPr>
          <p:cNvPr id="5" name="Rectangle 4">
            <a:extLst>
              <a:ext uri="{FF2B5EF4-FFF2-40B4-BE49-F238E27FC236}">
                <a16:creationId xmlns:a16="http://schemas.microsoft.com/office/drawing/2014/main" id="{958934F1-EFDA-3042-B8D1-1627EF63AA28}"/>
              </a:ext>
            </a:extLst>
          </p:cNvPr>
          <p:cNvSpPr/>
          <p:nvPr/>
        </p:nvSpPr>
        <p:spPr>
          <a:xfrm>
            <a:off x="0" y="0"/>
            <a:ext cx="12192000" cy="678094"/>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CS526  Mid-Term</a:t>
            </a:r>
          </a:p>
        </p:txBody>
      </p:sp>
      <p:sp>
        <p:nvSpPr>
          <p:cNvPr id="6" name="Footer Placeholder 5">
            <a:extLst>
              <a:ext uri="{FF2B5EF4-FFF2-40B4-BE49-F238E27FC236}">
                <a16:creationId xmlns:a16="http://schemas.microsoft.com/office/drawing/2014/main" id="{5B12AFAF-307E-C046-A210-B750151EF6F1}"/>
              </a:ext>
            </a:extLst>
          </p:cNvPr>
          <p:cNvSpPr>
            <a:spLocks noGrp="1"/>
          </p:cNvSpPr>
          <p:nvPr>
            <p:ph type="ftr" sz="quarter" idx="11"/>
          </p:nvPr>
        </p:nvSpPr>
        <p:spPr/>
        <p:txBody>
          <a:bodyPr/>
          <a:lstStyle/>
          <a:p>
            <a:r>
              <a:rPr lang="en-US"/>
              <a:t>Boston University Metropolitan College</a:t>
            </a:r>
          </a:p>
        </p:txBody>
      </p:sp>
      <p:sp>
        <p:nvSpPr>
          <p:cNvPr id="7" name="Slide Number Placeholder 6">
            <a:extLst>
              <a:ext uri="{FF2B5EF4-FFF2-40B4-BE49-F238E27FC236}">
                <a16:creationId xmlns:a16="http://schemas.microsoft.com/office/drawing/2014/main" id="{37980371-C631-6347-9CDD-6C6B37EC7D7D}"/>
              </a:ext>
            </a:extLst>
          </p:cNvPr>
          <p:cNvSpPr>
            <a:spLocks noGrp="1"/>
          </p:cNvSpPr>
          <p:nvPr>
            <p:ph type="sldNum" sz="quarter" idx="12"/>
          </p:nvPr>
        </p:nvSpPr>
        <p:spPr/>
        <p:txBody>
          <a:bodyPr/>
          <a:lstStyle/>
          <a:p>
            <a:fld id="{F0E4876E-C529-7042-8A86-14EE2C2A0384}" type="slidenum">
              <a:rPr lang="en-US" smtClean="0"/>
              <a:t>16</a:t>
            </a:fld>
            <a:endParaRPr lang="en-US"/>
          </a:p>
        </p:txBody>
      </p:sp>
      <p:sp>
        <p:nvSpPr>
          <p:cNvPr id="20" name="Content Placeholder 2">
            <a:extLst>
              <a:ext uri="{FF2B5EF4-FFF2-40B4-BE49-F238E27FC236}">
                <a16:creationId xmlns:a16="http://schemas.microsoft.com/office/drawing/2014/main" id="{DE583E3C-EE0D-E648-90CF-E0827356DCE9}"/>
              </a:ext>
            </a:extLst>
          </p:cNvPr>
          <p:cNvSpPr>
            <a:spLocks noGrp="1"/>
          </p:cNvSpPr>
          <p:nvPr>
            <p:ph sz="half" idx="1"/>
          </p:nvPr>
        </p:nvSpPr>
        <p:spPr>
          <a:xfrm>
            <a:off x="0" y="1613043"/>
            <a:ext cx="12192000" cy="4743308"/>
          </a:xfrm>
          <a:solidFill>
            <a:schemeClr val="accent2">
              <a:lumMod val="20000"/>
              <a:lumOff val="80000"/>
            </a:schemeClr>
          </a:solidFill>
        </p:spPr>
        <p:txBody>
          <a:bodyPr>
            <a:normAutofit/>
          </a:bodyPr>
          <a:lstStyle/>
          <a:p>
            <a:pPr lvl="0"/>
            <a:r>
              <a:rPr lang="en-US" dirty="0"/>
              <a:t>Symbol Puzzle Game</a:t>
            </a:r>
          </a:p>
          <a:p>
            <a:pPr marL="457200" lvl="1" indent="0">
              <a:buNone/>
            </a:pPr>
            <a:endParaRPr lang="en-US" sz="1400" dirty="0"/>
          </a:p>
          <a:p>
            <a:pPr marL="457200" lvl="1" indent="0">
              <a:buNone/>
            </a:pPr>
            <a:r>
              <a:rPr lang="en-US" sz="2000" dirty="0"/>
              <a:t>You are given an </a:t>
            </a:r>
            <a:r>
              <a:rPr lang="en-US" sz="2000" dirty="0" err="1"/>
              <a:t>nxn</a:t>
            </a:r>
            <a:r>
              <a:rPr lang="en-US" sz="2000" dirty="0"/>
              <a:t> puzzle board where the square root of n is an integer e.g. 4x4 or 9x9 etc. The board is populated with symbols where the number of symbols is equal to n.</a:t>
            </a:r>
          </a:p>
          <a:p>
            <a:pPr marL="457200" lvl="1" indent="0">
              <a:buNone/>
            </a:pPr>
            <a:r>
              <a:rPr lang="en-US" sz="2000" dirty="0"/>
              <a:t>Example: A partially filled 4x4 puzzle board with symbols: [@#&amp;*] with a . representing a non-filled position.</a:t>
            </a:r>
          </a:p>
          <a:p>
            <a:pPr marL="457200" lvl="1" indent="0">
              <a:buNone/>
            </a:pPr>
            <a:endParaRPr lang="en-US" sz="2000" dirty="0"/>
          </a:p>
          <a:p>
            <a:pPr marL="457200" lvl="1" indent="0">
              <a:buNone/>
            </a:pPr>
            <a:endParaRPr lang="en-US" sz="2000" dirty="0"/>
          </a:p>
          <a:p>
            <a:pPr marL="457200" lvl="1" indent="0">
              <a:buNone/>
            </a:pPr>
            <a:endParaRPr lang="en-US" dirty="0"/>
          </a:p>
          <a:p>
            <a:pPr marL="457200" lvl="1" indent="0">
              <a:buNone/>
            </a:pPr>
            <a:endParaRPr lang="en-US" dirty="0"/>
          </a:p>
          <a:p>
            <a:pPr marL="457200" lvl="1" indent="0">
              <a:buNone/>
            </a:pPr>
            <a:br>
              <a:rPr lang="en-US" sz="2000" dirty="0"/>
            </a:br>
            <a:endParaRPr lang="en-US" sz="2000" dirty="0"/>
          </a:p>
          <a:p>
            <a:pPr marL="457200" lvl="1" indent="0">
              <a:buNone/>
            </a:pPr>
            <a:endParaRPr lang="en-US" dirty="0"/>
          </a:p>
        </p:txBody>
      </p:sp>
      <p:graphicFrame>
        <p:nvGraphicFramePr>
          <p:cNvPr id="4" name="Table 3">
            <a:extLst>
              <a:ext uri="{FF2B5EF4-FFF2-40B4-BE49-F238E27FC236}">
                <a16:creationId xmlns:a16="http://schemas.microsoft.com/office/drawing/2014/main" id="{C670CB82-F718-B445-89F6-816904283025}"/>
              </a:ext>
            </a:extLst>
          </p:cNvPr>
          <p:cNvGraphicFramePr>
            <a:graphicFrameLocks noGrp="1"/>
          </p:cNvGraphicFramePr>
          <p:nvPr>
            <p:extLst/>
          </p:nvPr>
        </p:nvGraphicFramePr>
        <p:xfrm>
          <a:off x="1574800" y="3830614"/>
          <a:ext cx="8128000" cy="1483360"/>
        </p:xfrm>
        <a:graphic>
          <a:graphicData uri="http://schemas.openxmlformats.org/drawingml/2006/table">
            <a:tbl>
              <a:tblPr firstRow="1" bandRow="1">
                <a:tableStyleId>{69CF1AB2-1976-4502-BF36-3FF5EA218861}</a:tableStyleId>
              </a:tblPr>
              <a:tblGrid>
                <a:gridCol w="2032000">
                  <a:extLst>
                    <a:ext uri="{9D8B030D-6E8A-4147-A177-3AD203B41FA5}">
                      <a16:colId xmlns:a16="http://schemas.microsoft.com/office/drawing/2014/main" val="201157313"/>
                    </a:ext>
                  </a:extLst>
                </a:gridCol>
                <a:gridCol w="2032000">
                  <a:extLst>
                    <a:ext uri="{9D8B030D-6E8A-4147-A177-3AD203B41FA5}">
                      <a16:colId xmlns:a16="http://schemas.microsoft.com/office/drawing/2014/main" val="3224776832"/>
                    </a:ext>
                  </a:extLst>
                </a:gridCol>
                <a:gridCol w="2032000">
                  <a:extLst>
                    <a:ext uri="{9D8B030D-6E8A-4147-A177-3AD203B41FA5}">
                      <a16:colId xmlns:a16="http://schemas.microsoft.com/office/drawing/2014/main" val="3984418660"/>
                    </a:ext>
                  </a:extLst>
                </a:gridCol>
                <a:gridCol w="2032000">
                  <a:extLst>
                    <a:ext uri="{9D8B030D-6E8A-4147-A177-3AD203B41FA5}">
                      <a16:colId xmlns:a16="http://schemas.microsoft.com/office/drawing/2014/main" val="1933499454"/>
                    </a:ext>
                  </a:extLst>
                </a:gridCol>
              </a:tblGrid>
              <a:tr h="370840">
                <a:tc>
                  <a:txBody>
                    <a:bodyPr/>
                    <a:lstStyle/>
                    <a:p>
                      <a:pPr algn="ctr"/>
                      <a:r>
                        <a:rPr lang="en-US" b="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66605465"/>
                  </a:ext>
                </a:extLst>
              </a:tr>
              <a:tr h="370840">
                <a:tc>
                  <a:txBody>
                    <a:bodyPr/>
                    <a:lstStyle/>
                    <a:p>
                      <a:pPr algn="ctr"/>
                      <a:r>
                        <a:rPr lang="en-US" b="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84166057"/>
                  </a:ext>
                </a:extLst>
              </a:tr>
              <a:tr h="370840">
                <a:tc>
                  <a:txBody>
                    <a:bodyPr/>
                    <a:lstStyle/>
                    <a:p>
                      <a:pPr algn="ctr"/>
                      <a:r>
                        <a:rPr lang="en-US" b="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t>&amp;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32221019"/>
                  </a:ext>
                </a:extLst>
              </a:tr>
              <a:tr h="370840">
                <a:tc>
                  <a:txBody>
                    <a:bodyPr/>
                    <a:lstStyle/>
                    <a:p>
                      <a:pPr algn="ctr"/>
                      <a:r>
                        <a:rPr lang="en-US" b="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t>&amp;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22415596"/>
                  </a:ext>
                </a:extLst>
              </a:tr>
            </a:tbl>
          </a:graphicData>
        </a:graphic>
      </p:graphicFrame>
    </p:spTree>
    <p:extLst>
      <p:ext uri="{BB962C8B-B14F-4D97-AF65-F5344CB8AC3E}">
        <p14:creationId xmlns:p14="http://schemas.microsoft.com/office/powerpoint/2010/main" val="26255138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4BDEA-2B9D-B840-809F-2653FC5DF999}"/>
              </a:ext>
            </a:extLst>
          </p:cNvPr>
          <p:cNvSpPr>
            <a:spLocks noGrp="1"/>
          </p:cNvSpPr>
          <p:nvPr>
            <p:ph type="title"/>
          </p:nvPr>
        </p:nvSpPr>
        <p:spPr>
          <a:xfrm>
            <a:off x="0" y="678094"/>
            <a:ext cx="12192000" cy="934949"/>
          </a:xfrm>
          <a:solidFill>
            <a:schemeClr val="accent2">
              <a:lumMod val="20000"/>
              <a:lumOff val="80000"/>
            </a:schemeClr>
          </a:solidFill>
        </p:spPr>
        <p:txBody>
          <a:bodyPr/>
          <a:lstStyle/>
          <a:p>
            <a:r>
              <a:rPr lang="en-US" b="1" dirty="0"/>
              <a:t>Problem 4 </a:t>
            </a:r>
            <a:r>
              <a:rPr lang="en-US" b="1" dirty="0" err="1"/>
              <a:t>con’t</a:t>
            </a:r>
            <a:r>
              <a:rPr lang="en-US" b="1" dirty="0"/>
              <a:t> (25 pts)</a:t>
            </a:r>
          </a:p>
        </p:txBody>
      </p:sp>
      <p:sp>
        <p:nvSpPr>
          <p:cNvPr id="5" name="Rectangle 4">
            <a:extLst>
              <a:ext uri="{FF2B5EF4-FFF2-40B4-BE49-F238E27FC236}">
                <a16:creationId xmlns:a16="http://schemas.microsoft.com/office/drawing/2014/main" id="{958934F1-EFDA-3042-B8D1-1627EF63AA28}"/>
              </a:ext>
            </a:extLst>
          </p:cNvPr>
          <p:cNvSpPr/>
          <p:nvPr/>
        </p:nvSpPr>
        <p:spPr>
          <a:xfrm>
            <a:off x="0" y="0"/>
            <a:ext cx="12192000" cy="678094"/>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CS526  Mid-Term</a:t>
            </a:r>
          </a:p>
        </p:txBody>
      </p:sp>
      <p:sp>
        <p:nvSpPr>
          <p:cNvPr id="6" name="Footer Placeholder 5">
            <a:extLst>
              <a:ext uri="{FF2B5EF4-FFF2-40B4-BE49-F238E27FC236}">
                <a16:creationId xmlns:a16="http://schemas.microsoft.com/office/drawing/2014/main" id="{5B12AFAF-307E-C046-A210-B750151EF6F1}"/>
              </a:ext>
            </a:extLst>
          </p:cNvPr>
          <p:cNvSpPr>
            <a:spLocks noGrp="1"/>
          </p:cNvSpPr>
          <p:nvPr>
            <p:ph type="ftr" sz="quarter" idx="11"/>
          </p:nvPr>
        </p:nvSpPr>
        <p:spPr/>
        <p:txBody>
          <a:bodyPr/>
          <a:lstStyle/>
          <a:p>
            <a:r>
              <a:rPr lang="en-US"/>
              <a:t>Boston University Metropolitan College</a:t>
            </a:r>
          </a:p>
        </p:txBody>
      </p:sp>
      <p:sp>
        <p:nvSpPr>
          <p:cNvPr id="7" name="Slide Number Placeholder 6">
            <a:extLst>
              <a:ext uri="{FF2B5EF4-FFF2-40B4-BE49-F238E27FC236}">
                <a16:creationId xmlns:a16="http://schemas.microsoft.com/office/drawing/2014/main" id="{37980371-C631-6347-9CDD-6C6B37EC7D7D}"/>
              </a:ext>
            </a:extLst>
          </p:cNvPr>
          <p:cNvSpPr>
            <a:spLocks noGrp="1"/>
          </p:cNvSpPr>
          <p:nvPr>
            <p:ph type="sldNum" sz="quarter" idx="12"/>
          </p:nvPr>
        </p:nvSpPr>
        <p:spPr/>
        <p:txBody>
          <a:bodyPr/>
          <a:lstStyle/>
          <a:p>
            <a:fld id="{F0E4876E-C529-7042-8A86-14EE2C2A0384}" type="slidenum">
              <a:rPr lang="en-US" smtClean="0"/>
              <a:t>17</a:t>
            </a:fld>
            <a:endParaRPr lang="en-US"/>
          </a:p>
        </p:txBody>
      </p:sp>
      <p:sp>
        <p:nvSpPr>
          <p:cNvPr id="20" name="Content Placeholder 2">
            <a:extLst>
              <a:ext uri="{FF2B5EF4-FFF2-40B4-BE49-F238E27FC236}">
                <a16:creationId xmlns:a16="http://schemas.microsoft.com/office/drawing/2014/main" id="{DE583E3C-EE0D-E648-90CF-E0827356DCE9}"/>
              </a:ext>
            </a:extLst>
          </p:cNvPr>
          <p:cNvSpPr>
            <a:spLocks noGrp="1"/>
          </p:cNvSpPr>
          <p:nvPr>
            <p:ph sz="half" idx="1"/>
          </p:nvPr>
        </p:nvSpPr>
        <p:spPr>
          <a:xfrm>
            <a:off x="0" y="1613043"/>
            <a:ext cx="12192000" cy="4743308"/>
          </a:xfrm>
          <a:solidFill>
            <a:schemeClr val="accent2">
              <a:lumMod val="20000"/>
              <a:lumOff val="80000"/>
            </a:schemeClr>
          </a:solidFill>
        </p:spPr>
        <p:txBody>
          <a:bodyPr>
            <a:normAutofit/>
          </a:bodyPr>
          <a:lstStyle/>
          <a:p>
            <a:pPr lvl="0"/>
            <a:r>
              <a:rPr lang="en-US" sz="2400" dirty="0"/>
              <a:t>Symbol Puzzle Game </a:t>
            </a:r>
            <a:r>
              <a:rPr lang="en-US" sz="2400" dirty="0" err="1"/>
              <a:t>Con’t</a:t>
            </a:r>
            <a:endParaRPr lang="en-US" sz="2400" dirty="0"/>
          </a:p>
          <a:p>
            <a:pPr lvl="0"/>
            <a:endParaRPr lang="en-US" sz="2000" dirty="0"/>
          </a:p>
          <a:p>
            <a:pPr marL="457200" lvl="1" indent="0">
              <a:buNone/>
            </a:pPr>
            <a:r>
              <a:rPr lang="en-US" sz="2000" dirty="0"/>
              <a:t>Create and code an algorithm to calculate if the current board is in a valid or invalid state. The board is considered valid if the following conditions are met:</a:t>
            </a:r>
          </a:p>
          <a:p>
            <a:pPr lvl="1"/>
            <a:r>
              <a:rPr lang="en-US" sz="2000" dirty="0"/>
              <a:t>Each row must contain each symbol at most once</a:t>
            </a:r>
          </a:p>
          <a:p>
            <a:pPr lvl="1"/>
            <a:r>
              <a:rPr lang="en-US" sz="2000" dirty="0"/>
              <a:t>Each column must contain each symbol at most once</a:t>
            </a:r>
          </a:p>
          <a:p>
            <a:pPr lvl="1"/>
            <a:r>
              <a:rPr lang="en-US" sz="2000" dirty="0"/>
              <a:t>The board contains sub-boards of size square root of n and each sub-board must contain each symbol at most once</a:t>
            </a:r>
          </a:p>
          <a:p>
            <a:pPr lvl="1"/>
            <a:endParaRPr lang="en-US" sz="2000" dirty="0"/>
          </a:p>
          <a:p>
            <a:pPr marL="457200" lvl="1" indent="0">
              <a:buNone/>
            </a:pPr>
            <a:r>
              <a:rPr lang="en-US" sz="2000" dirty="0"/>
              <a:t>Note: there are two sample inputs:</a:t>
            </a:r>
          </a:p>
          <a:p>
            <a:pPr marL="457200" lvl="1" indent="0">
              <a:buNone/>
            </a:pPr>
            <a:r>
              <a:rPr lang="en-US" sz="2000" dirty="0"/>
              <a:t>		spg_input1.txt -&gt; The board is valid</a:t>
            </a:r>
          </a:p>
          <a:p>
            <a:pPr marL="457200" lvl="1" indent="0">
              <a:buNone/>
            </a:pPr>
            <a:r>
              <a:rPr lang="en-US" sz="2000" dirty="0"/>
              <a:t>		spg_input2.txt -&gt; The board is invalid</a:t>
            </a:r>
          </a:p>
        </p:txBody>
      </p:sp>
    </p:spTree>
    <p:extLst>
      <p:ext uri="{BB962C8B-B14F-4D97-AF65-F5344CB8AC3E}">
        <p14:creationId xmlns:p14="http://schemas.microsoft.com/office/powerpoint/2010/main" val="24203443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4BDEA-2B9D-B840-809F-2653FC5DF999}"/>
              </a:ext>
            </a:extLst>
          </p:cNvPr>
          <p:cNvSpPr>
            <a:spLocks noGrp="1"/>
          </p:cNvSpPr>
          <p:nvPr>
            <p:ph type="title"/>
          </p:nvPr>
        </p:nvSpPr>
        <p:spPr>
          <a:xfrm>
            <a:off x="0" y="678094"/>
            <a:ext cx="12192000" cy="934949"/>
          </a:xfrm>
          <a:solidFill>
            <a:schemeClr val="accent2">
              <a:lumMod val="20000"/>
              <a:lumOff val="80000"/>
            </a:schemeClr>
          </a:solidFill>
        </p:spPr>
        <p:txBody>
          <a:bodyPr/>
          <a:lstStyle/>
          <a:p>
            <a:r>
              <a:rPr lang="en-US" b="1" dirty="0"/>
              <a:t>Problem 4 </a:t>
            </a:r>
            <a:r>
              <a:rPr lang="en-US" b="1" dirty="0" err="1"/>
              <a:t>con’t</a:t>
            </a:r>
            <a:r>
              <a:rPr lang="en-US" b="1" dirty="0"/>
              <a:t> (25 pts)</a:t>
            </a:r>
          </a:p>
        </p:txBody>
      </p:sp>
      <p:sp>
        <p:nvSpPr>
          <p:cNvPr id="5" name="Rectangle 4">
            <a:extLst>
              <a:ext uri="{FF2B5EF4-FFF2-40B4-BE49-F238E27FC236}">
                <a16:creationId xmlns:a16="http://schemas.microsoft.com/office/drawing/2014/main" id="{958934F1-EFDA-3042-B8D1-1627EF63AA28}"/>
              </a:ext>
            </a:extLst>
          </p:cNvPr>
          <p:cNvSpPr/>
          <p:nvPr/>
        </p:nvSpPr>
        <p:spPr>
          <a:xfrm>
            <a:off x="0" y="0"/>
            <a:ext cx="12192000" cy="678094"/>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CS526  Mid-Term</a:t>
            </a:r>
          </a:p>
        </p:txBody>
      </p:sp>
      <p:sp>
        <p:nvSpPr>
          <p:cNvPr id="6" name="Footer Placeholder 5">
            <a:extLst>
              <a:ext uri="{FF2B5EF4-FFF2-40B4-BE49-F238E27FC236}">
                <a16:creationId xmlns:a16="http://schemas.microsoft.com/office/drawing/2014/main" id="{5B12AFAF-307E-C046-A210-B750151EF6F1}"/>
              </a:ext>
            </a:extLst>
          </p:cNvPr>
          <p:cNvSpPr>
            <a:spLocks noGrp="1"/>
          </p:cNvSpPr>
          <p:nvPr>
            <p:ph type="ftr" sz="quarter" idx="11"/>
          </p:nvPr>
        </p:nvSpPr>
        <p:spPr/>
        <p:txBody>
          <a:bodyPr/>
          <a:lstStyle/>
          <a:p>
            <a:r>
              <a:rPr lang="en-US"/>
              <a:t>Boston University Metropolitan College</a:t>
            </a:r>
          </a:p>
        </p:txBody>
      </p:sp>
      <p:sp>
        <p:nvSpPr>
          <p:cNvPr id="7" name="Slide Number Placeholder 6">
            <a:extLst>
              <a:ext uri="{FF2B5EF4-FFF2-40B4-BE49-F238E27FC236}">
                <a16:creationId xmlns:a16="http://schemas.microsoft.com/office/drawing/2014/main" id="{37980371-C631-6347-9CDD-6C6B37EC7D7D}"/>
              </a:ext>
            </a:extLst>
          </p:cNvPr>
          <p:cNvSpPr>
            <a:spLocks noGrp="1"/>
          </p:cNvSpPr>
          <p:nvPr>
            <p:ph type="sldNum" sz="quarter" idx="12"/>
          </p:nvPr>
        </p:nvSpPr>
        <p:spPr/>
        <p:txBody>
          <a:bodyPr/>
          <a:lstStyle/>
          <a:p>
            <a:fld id="{F0E4876E-C529-7042-8A86-14EE2C2A0384}" type="slidenum">
              <a:rPr lang="en-US" smtClean="0"/>
              <a:t>18</a:t>
            </a:fld>
            <a:endParaRPr lang="en-US"/>
          </a:p>
        </p:txBody>
      </p:sp>
      <p:sp>
        <p:nvSpPr>
          <p:cNvPr id="20" name="Content Placeholder 2">
            <a:extLst>
              <a:ext uri="{FF2B5EF4-FFF2-40B4-BE49-F238E27FC236}">
                <a16:creationId xmlns:a16="http://schemas.microsoft.com/office/drawing/2014/main" id="{DE583E3C-EE0D-E648-90CF-E0827356DCE9}"/>
              </a:ext>
            </a:extLst>
          </p:cNvPr>
          <p:cNvSpPr>
            <a:spLocks noGrp="1"/>
          </p:cNvSpPr>
          <p:nvPr>
            <p:ph sz="half" idx="1"/>
          </p:nvPr>
        </p:nvSpPr>
        <p:spPr>
          <a:xfrm>
            <a:off x="0" y="1613043"/>
            <a:ext cx="12192000" cy="4743308"/>
          </a:xfrm>
          <a:solidFill>
            <a:schemeClr val="accent2">
              <a:lumMod val="20000"/>
              <a:lumOff val="80000"/>
            </a:schemeClr>
          </a:solidFill>
        </p:spPr>
        <p:txBody>
          <a:bodyPr>
            <a:normAutofit fontScale="92500" lnSpcReduction="20000"/>
          </a:bodyPr>
          <a:lstStyle/>
          <a:p>
            <a:pPr lvl="0"/>
            <a:r>
              <a:rPr lang="en-US" sz="2400" dirty="0"/>
              <a:t>Symbol Puzzle Game </a:t>
            </a:r>
            <a:r>
              <a:rPr lang="en-US" sz="2400" dirty="0" err="1"/>
              <a:t>Con’t</a:t>
            </a:r>
            <a:endParaRPr lang="en-US" sz="2400" dirty="0"/>
          </a:p>
          <a:p>
            <a:pPr lvl="0"/>
            <a:endParaRPr lang="en-US" sz="2000" dirty="0"/>
          </a:p>
          <a:p>
            <a:pPr marL="457200" lvl="1" indent="0">
              <a:buNone/>
            </a:pPr>
            <a:r>
              <a:rPr lang="en-US" sz="2000" dirty="0"/>
              <a:t>You will be provided 2 input files with the following structure:</a:t>
            </a:r>
          </a:p>
          <a:p>
            <a:pPr marL="457200" lvl="1" indent="0">
              <a:buNone/>
            </a:pPr>
            <a:r>
              <a:rPr lang="en-US" sz="2000" dirty="0"/>
              <a:t>The first row will be n, the second row will contain a comma separated list of the symbols and each subsequent row will be some combination of symbols and dots (representing empty cells) comma separated:</a:t>
            </a:r>
          </a:p>
          <a:p>
            <a:pPr marL="457200" lvl="1" indent="0">
              <a:buNone/>
            </a:pPr>
            <a:endParaRPr lang="en-US" sz="2000" dirty="0"/>
          </a:p>
          <a:p>
            <a:pPr marL="457200" lvl="1" indent="0">
              <a:buNone/>
            </a:pPr>
            <a:r>
              <a:rPr lang="en-US" sz="2000" dirty="0"/>
              <a:t>4</a:t>
            </a:r>
          </a:p>
          <a:p>
            <a:pPr marL="457200" lvl="1" indent="0">
              <a:buNone/>
            </a:pPr>
            <a:r>
              <a:rPr lang="en-US" sz="2000" dirty="0"/>
              <a:t>@,*,&amp;,#</a:t>
            </a:r>
          </a:p>
          <a:p>
            <a:pPr marL="457200" lvl="1" indent="0">
              <a:buNone/>
            </a:pPr>
            <a:r>
              <a:rPr lang="en-US" sz="2000" dirty="0"/>
              <a:t>@,.,.,.</a:t>
            </a:r>
          </a:p>
          <a:p>
            <a:pPr marL="457200" lvl="1" indent="0">
              <a:buNone/>
            </a:pPr>
            <a:r>
              <a:rPr lang="en-US" sz="2000" dirty="0"/>
              <a:t>.,*,.,#</a:t>
            </a:r>
          </a:p>
          <a:p>
            <a:pPr marL="457200" lvl="1" indent="0">
              <a:buNone/>
            </a:pPr>
            <a:r>
              <a:rPr lang="en-US" sz="2000" dirty="0"/>
              <a:t>#,.,*,&amp;</a:t>
            </a:r>
          </a:p>
          <a:p>
            <a:pPr marL="457200" lvl="1" indent="0">
              <a:buNone/>
            </a:pPr>
            <a:r>
              <a:rPr lang="en-US" sz="2000" dirty="0"/>
              <a:t>*,&amp;,.,@</a:t>
            </a:r>
          </a:p>
          <a:p>
            <a:pPr lvl="1"/>
            <a:endParaRPr lang="en-US" sz="2000" dirty="0"/>
          </a:p>
          <a:p>
            <a:pPr marL="457200" lvl="1" indent="0">
              <a:buNone/>
            </a:pPr>
            <a:r>
              <a:rPr lang="en-US" sz="2000" dirty="0"/>
              <a:t>Note: there are two sample inputs:</a:t>
            </a:r>
          </a:p>
          <a:p>
            <a:pPr marL="457200" lvl="1" indent="0">
              <a:buNone/>
            </a:pPr>
            <a:r>
              <a:rPr lang="en-US" sz="2000" dirty="0"/>
              <a:t>		spg_input1.txt -&gt; The board is valid</a:t>
            </a:r>
          </a:p>
          <a:p>
            <a:pPr marL="457200" lvl="1" indent="0">
              <a:buNone/>
            </a:pPr>
            <a:r>
              <a:rPr lang="en-US" sz="2000" dirty="0"/>
              <a:t>		spg_input2.txt -&gt; The board is invalid</a:t>
            </a:r>
          </a:p>
        </p:txBody>
      </p:sp>
    </p:spTree>
    <p:extLst>
      <p:ext uri="{BB962C8B-B14F-4D97-AF65-F5344CB8AC3E}">
        <p14:creationId xmlns:p14="http://schemas.microsoft.com/office/powerpoint/2010/main" val="4582959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4BDEA-2B9D-B840-809F-2653FC5DF999}"/>
              </a:ext>
            </a:extLst>
          </p:cNvPr>
          <p:cNvSpPr>
            <a:spLocks noGrp="1"/>
          </p:cNvSpPr>
          <p:nvPr>
            <p:ph type="title"/>
          </p:nvPr>
        </p:nvSpPr>
        <p:spPr>
          <a:xfrm>
            <a:off x="0" y="678094"/>
            <a:ext cx="12192000" cy="934949"/>
          </a:xfrm>
          <a:solidFill>
            <a:schemeClr val="accent2">
              <a:lumMod val="20000"/>
              <a:lumOff val="80000"/>
            </a:schemeClr>
          </a:solidFill>
        </p:spPr>
        <p:txBody>
          <a:bodyPr/>
          <a:lstStyle/>
          <a:p>
            <a:r>
              <a:rPr lang="en-US" b="1" dirty="0"/>
              <a:t>Problem 4 </a:t>
            </a:r>
            <a:r>
              <a:rPr lang="en-US" b="1" dirty="0" err="1"/>
              <a:t>con’t</a:t>
            </a:r>
            <a:r>
              <a:rPr lang="en-US" b="1" dirty="0"/>
              <a:t> (25 pts)</a:t>
            </a:r>
          </a:p>
        </p:txBody>
      </p:sp>
      <p:sp>
        <p:nvSpPr>
          <p:cNvPr id="5" name="Rectangle 4">
            <a:extLst>
              <a:ext uri="{FF2B5EF4-FFF2-40B4-BE49-F238E27FC236}">
                <a16:creationId xmlns:a16="http://schemas.microsoft.com/office/drawing/2014/main" id="{958934F1-EFDA-3042-B8D1-1627EF63AA28}"/>
              </a:ext>
            </a:extLst>
          </p:cNvPr>
          <p:cNvSpPr/>
          <p:nvPr/>
        </p:nvSpPr>
        <p:spPr>
          <a:xfrm>
            <a:off x="0" y="0"/>
            <a:ext cx="12192000" cy="678094"/>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CS526  Mid-Term</a:t>
            </a:r>
          </a:p>
        </p:txBody>
      </p:sp>
      <p:sp>
        <p:nvSpPr>
          <p:cNvPr id="6" name="Footer Placeholder 5">
            <a:extLst>
              <a:ext uri="{FF2B5EF4-FFF2-40B4-BE49-F238E27FC236}">
                <a16:creationId xmlns:a16="http://schemas.microsoft.com/office/drawing/2014/main" id="{5B12AFAF-307E-C046-A210-B750151EF6F1}"/>
              </a:ext>
            </a:extLst>
          </p:cNvPr>
          <p:cNvSpPr>
            <a:spLocks noGrp="1"/>
          </p:cNvSpPr>
          <p:nvPr>
            <p:ph type="ftr" sz="quarter" idx="11"/>
          </p:nvPr>
        </p:nvSpPr>
        <p:spPr/>
        <p:txBody>
          <a:bodyPr/>
          <a:lstStyle/>
          <a:p>
            <a:r>
              <a:rPr lang="en-US"/>
              <a:t>Boston University Metropolitan College</a:t>
            </a:r>
          </a:p>
        </p:txBody>
      </p:sp>
      <p:sp>
        <p:nvSpPr>
          <p:cNvPr id="7" name="Slide Number Placeholder 6">
            <a:extLst>
              <a:ext uri="{FF2B5EF4-FFF2-40B4-BE49-F238E27FC236}">
                <a16:creationId xmlns:a16="http://schemas.microsoft.com/office/drawing/2014/main" id="{37980371-C631-6347-9CDD-6C6B37EC7D7D}"/>
              </a:ext>
            </a:extLst>
          </p:cNvPr>
          <p:cNvSpPr>
            <a:spLocks noGrp="1"/>
          </p:cNvSpPr>
          <p:nvPr>
            <p:ph type="sldNum" sz="quarter" idx="12"/>
          </p:nvPr>
        </p:nvSpPr>
        <p:spPr/>
        <p:txBody>
          <a:bodyPr/>
          <a:lstStyle/>
          <a:p>
            <a:fld id="{F0E4876E-C529-7042-8A86-14EE2C2A0384}" type="slidenum">
              <a:rPr lang="en-US" smtClean="0"/>
              <a:t>19</a:t>
            </a:fld>
            <a:endParaRPr lang="en-US"/>
          </a:p>
        </p:txBody>
      </p:sp>
      <p:sp>
        <p:nvSpPr>
          <p:cNvPr id="20" name="Content Placeholder 2">
            <a:extLst>
              <a:ext uri="{FF2B5EF4-FFF2-40B4-BE49-F238E27FC236}">
                <a16:creationId xmlns:a16="http://schemas.microsoft.com/office/drawing/2014/main" id="{DE583E3C-EE0D-E648-90CF-E0827356DCE9}"/>
              </a:ext>
            </a:extLst>
          </p:cNvPr>
          <p:cNvSpPr>
            <a:spLocks noGrp="1"/>
          </p:cNvSpPr>
          <p:nvPr>
            <p:ph sz="half" idx="1"/>
          </p:nvPr>
        </p:nvSpPr>
        <p:spPr>
          <a:xfrm>
            <a:off x="0" y="1613043"/>
            <a:ext cx="12192000" cy="4743308"/>
          </a:xfrm>
          <a:solidFill>
            <a:schemeClr val="accent2">
              <a:lumMod val="20000"/>
              <a:lumOff val="80000"/>
            </a:schemeClr>
          </a:solidFill>
        </p:spPr>
        <p:txBody>
          <a:bodyPr>
            <a:normAutofit/>
          </a:bodyPr>
          <a:lstStyle/>
          <a:p>
            <a:pPr lvl="0"/>
            <a:r>
              <a:rPr lang="en-US" sz="2400" dirty="0"/>
              <a:t>Symbol Puzzle Game </a:t>
            </a:r>
            <a:r>
              <a:rPr lang="en-US" sz="2400" dirty="0" err="1"/>
              <a:t>Con’t</a:t>
            </a:r>
            <a:endParaRPr lang="en-US" sz="2400" dirty="0"/>
          </a:p>
          <a:p>
            <a:pPr lvl="0"/>
            <a:endParaRPr lang="en-US" sz="2000" dirty="0"/>
          </a:p>
          <a:p>
            <a:pPr lvl="1"/>
            <a:r>
              <a:rPr lang="en-US" sz="2000" dirty="0"/>
              <a:t>Describe the heart of your algorithm, explain your code in a </a:t>
            </a:r>
            <a:r>
              <a:rPr lang="en-US" sz="2000" dirty="0" err="1"/>
              <a:t>readme.txt</a:t>
            </a:r>
            <a:endParaRPr lang="en-US" sz="2000" dirty="0"/>
          </a:p>
          <a:p>
            <a:pPr lvl="1"/>
            <a:r>
              <a:rPr lang="en-US" sz="2000" dirty="0"/>
              <a:t>Write a program that takes as input a file and returns to the console “</a:t>
            </a:r>
            <a:r>
              <a:rPr lang="en-US" sz="2000" b="1" dirty="0"/>
              <a:t>The board is &lt;</a:t>
            </a:r>
            <a:r>
              <a:rPr lang="en-US" sz="2000" b="1" dirty="0" err="1"/>
              <a:t>valid|invalid</a:t>
            </a:r>
            <a:r>
              <a:rPr lang="en-US" sz="2000" b="1" dirty="0"/>
              <a:t>&gt;</a:t>
            </a:r>
            <a:r>
              <a:rPr lang="en-US" sz="2000" dirty="0"/>
              <a:t>”</a:t>
            </a:r>
          </a:p>
          <a:p>
            <a:pPr lvl="1"/>
            <a:r>
              <a:rPr lang="en-US" sz="2000" dirty="0"/>
              <a:t>Provide a </a:t>
            </a:r>
            <a:r>
              <a:rPr lang="en-US" sz="2000" dirty="0" err="1"/>
              <a:t>readme.txt</a:t>
            </a:r>
            <a:r>
              <a:rPr lang="en-US" sz="2000" dirty="0"/>
              <a:t> which explains how to run your code in a terminal window.</a:t>
            </a:r>
          </a:p>
          <a:p>
            <a:pPr lvl="1"/>
            <a:endParaRPr lang="en-US" sz="2000" dirty="0"/>
          </a:p>
          <a:p>
            <a:pPr marL="457200" lvl="1" indent="0">
              <a:buNone/>
            </a:pPr>
            <a:r>
              <a:rPr lang="en-US" sz="2000" dirty="0"/>
              <a:t>Note: there are two sample inputs:</a:t>
            </a:r>
          </a:p>
          <a:p>
            <a:pPr marL="457200" lvl="1" indent="0">
              <a:buNone/>
            </a:pPr>
            <a:r>
              <a:rPr lang="en-US" sz="2000" dirty="0"/>
              <a:t>		spg_input1.txt -&gt; The board is valid</a:t>
            </a:r>
          </a:p>
          <a:p>
            <a:pPr marL="457200" lvl="1" indent="0">
              <a:buNone/>
            </a:pPr>
            <a:r>
              <a:rPr lang="en-US" sz="2000" dirty="0"/>
              <a:t>		spg_input2.txt -&gt; The board is invalid</a:t>
            </a:r>
          </a:p>
        </p:txBody>
      </p:sp>
    </p:spTree>
    <p:extLst>
      <p:ext uri="{BB962C8B-B14F-4D97-AF65-F5344CB8AC3E}">
        <p14:creationId xmlns:p14="http://schemas.microsoft.com/office/powerpoint/2010/main" val="24882132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766</TotalTime>
  <Words>1755</Words>
  <Application>Microsoft Macintosh PowerPoint</Application>
  <PresentationFormat>Widescreen</PresentationFormat>
  <Paragraphs>264</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Calibri Light</vt:lpstr>
      <vt:lpstr>Office Theme</vt:lpstr>
      <vt:lpstr>Problem 1 (25 pts)</vt:lpstr>
      <vt:lpstr>Problem 1 con’t (25 pts)</vt:lpstr>
      <vt:lpstr>Problem 1 con’t (25 pts)</vt:lpstr>
      <vt:lpstr>Problem 1 con’t (25 pts)</vt:lpstr>
      <vt:lpstr>Problem 2 (25 pts)</vt:lpstr>
      <vt:lpstr>Problem 2 con’t (25 pts)</vt:lpstr>
      <vt:lpstr>Problem 2 con’t (25 pts)</vt:lpstr>
      <vt:lpstr>Problem 2 con’t (25 pts)</vt:lpstr>
      <vt:lpstr>Problem 2 con’t (25 pts)</vt:lpstr>
      <vt:lpstr>Problem 2 con’t (25 pts)</vt:lpstr>
      <vt:lpstr>Problem 2 con’t (25 pts)</vt:lpstr>
      <vt:lpstr>Problem 2 con’t (25 pts)</vt:lpstr>
      <vt:lpstr>Problem 3 (25 pts)</vt:lpstr>
      <vt:lpstr>Problem 3 (25 pts)</vt:lpstr>
      <vt:lpstr>Problem 3 con’t (25 pts)</vt:lpstr>
      <vt:lpstr>Problem 4 (25 pts)</vt:lpstr>
      <vt:lpstr>Problem 4 con’t (25 pts)</vt:lpstr>
      <vt:lpstr>Problem 4 con’t (25 pts)</vt:lpstr>
      <vt:lpstr>Problem 4 con’t (25 pts)</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Introduce Yourself</dc:title>
  <dc:creator>David Mellor</dc:creator>
  <cp:lastModifiedBy>David Mellor</cp:lastModifiedBy>
  <cp:revision>41</cp:revision>
  <dcterms:created xsi:type="dcterms:W3CDTF">2024-08-26T20:23:57Z</dcterms:created>
  <dcterms:modified xsi:type="dcterms:W3CDTF">2025-10-25T14:23:48Z</dcterms:modified>
</cp:coreProperties>
</file>